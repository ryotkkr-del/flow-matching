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2bf258a6864cd8" /><Relationship Type="http://schemas.openxmlformats.org/officeDocument/2006/relationships/extended-properties" Target="/docProps/app.xml" Id="R86f20731d5db4bf0" /><Relationship Type="http://schemas.openxmlformats.org/officeDocument/2006/relationships/officeDocument" Target="/ppt/presentation.xml" Id="R229fe9b0fe8d41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50911fd52145cb"/>
  </p:sldMasterIdLst>
  <p:notesMasterIdLst>
    <p:notesMasterId xmlns:r="http://schemas.openxmlformats.org/officeDocument/2006/relationships" r:id="Rf8132b50304843ec"/>
  </p:notesMasterIdLst>
  <p:sldIdLst>
    <p:sldId xmlns:r="http://schemas.openxmlformats.org/officeDocument/2006/relationships" id="256" r:id="R629f579771f54ca1"/>
    <p:sldId xmlns:r="http://schemas.openxmlformats.org/officeDocument/2006/relationships" id="257" r:id="R6d349af1fff743b6"/>
    <p:sldId xmlns:r="http://schemas.openxmlformats.org/officeDocument/2006/relationships" id="258" r:id="R733930caa36b4554"/>
    <p:sldId xmlns:r="http://schemas.openxmlformats.org/officeDocument/2006/relationships" id="259" r:id="R14618ff2fe844875"/>
    <p:sldId xmlns:r="http://schemas.openxmlformats.org/officeDocument/2006/relationships" id="260" r:id="Reb227bc305bf440c"/>
    <p:sldId xmlns:r="http://schemas.openxmlformats.org/officeDocument/2006/relationships" id="261" r:id="R2eea2f94d00c4e40"/>
    <p:sldId xmlns:r="http://schemas.openxmlformats.org/officeDocument/2006/relationships" id="262" r:id="R0519ddc54aad4a0d"/>
    <p:sldId xmlns:r="http://schemas.openxmlformats.org/officeDocument/2006/relationships" id="263" r:id="Ra16202eb3d894d35"/>
    <p:sldId xmlns:r="http://schemas.openxmlformats.org/officeDocument/2006/relationships" id="264" r:id="Rce6e254353f0422e"/>
    <p:sldId xmlns:r="http://schemas.openxmlformats.org/officeDocument/2006/relationships" id="265" r:id="R054e75be48494c8b"/>
    <p:sldId xmlns:r="http://schemas.openxmlformats.org/officeDocument/2006/relationships" id="266" r:id="R892a4fe4e63c40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6f5dce90ee4143" /><Relationship Type="http://schemas.openxmlformats.org/officeDocument/2006/relationships/slideMaster" Target="/ppt/slideMasters/slideMaster1.xml" Id="Rcf50911fd52145cb" /><Relationship Type="http://schemas.openxmlformats.org/officeDocument/2006/relationships/notesMaster" Target="/ppt/notesMasters/notesMaster1.xml" Id="Rf8132b50304843ec" /><Relationship Type="http://schemas.openxmlformats.org/officeDocument/2006/relationships/presProps" Target="/ppt/presProps.xml" Id="R282c18bec86e45f4" /><Relationship Type="http://schemas.openxmlformats.org/officeDocument/2006/relationships/tableStyles" Target="/ppt/tableStyles.xml" Id="R1aeb801c6f244a05" /><Relationship Type="http://schemas.openxmlformats.org/officeDocument/2006/relationships/slide" Target="/ppt/slides/slide1.xml" Id="R629f579771f54ca1" /><Relationship Type="http://schemas.openxmlformats.org/officeDocument/2006/relationships/slide" Target="/ppt/slides/slide2.xml" Id="R6d349af1fff743b6" /><Relationship Type="http://schemas.openxmlformats.org/officeDocument/2006/relationships/slide" Target="/ppt/slides/slide3.xml" Id="R733930caa36b4554" /><Relationship Type="http://schemas.openxmlformats.org/officeDocument/2006/relationships/slide" Target="/ppt/slides/slide4.xml" Id="R14618ff2fe844875" /><Relationship Type="http://schemas.openxmlformats.org/officeDocument/2006/relationships/slide" Target="/ppt/slides/slide5.xml" Id="Reb227bc305bf440c" /><Relationship Type="http://schemas.openxmlformats.org/officeDocument/2006/relationships/slide" Target="/ppt/slides/slide6.xml" Id="R2eea2f94d00c4e40" /><Relationship Type="http://schemas.openxmlformats.org/officeDocument/2006/relationships/slide" Target="/ppt/slides/slide7.xml" Id="R0519ddc54aad4a0d" /><Relationship Type="http://schemas.openxmlformats.org/officeDocument/2006/relationships/slide" Target="/ppt/slides/slide8.xml" Id="Ra16202eb3d894d35" /><Relationship Type="http://schemas.openxmlformats.org/officeDocument/2006/relationships/slide" Target="/ppt/slides/slide9.xml" Id="Rce6e254353f0422e" /><Relationship Type="http://schemas.openxmlformats.org/officeDocument/2006/relationships/slide" Target="/ppt/slides/slide10.xml" Id="R054e75be48494c8b" /><Relationship Type="http://schemas.openxmlformats.org/officeDocument/2006/relationships/slide" Target="/ppt/slides/slide11.xml" Id="R892a4fe4e63c40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0fc2ab26a843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0fd0959d98452d" /><Relationship Type="http://schemas.openxmlformats.org/officeDocument/2006/relationships/notesMaster" Target="/ppt/notesMasters/notesMaster1.xml" Id="Rd0e25b15be4d4e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c14a6efba24f2f" /><Relationship Type="http://schemas.openxmlformats.org/officeDocument/2006/relationships/notesMaster" Target="/ppt/notesMasters/notesMaster1.xml" Id="Rfe7fd20a04f945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d1f770bde84c9b" /><Relationship Type="http://schemas.openxmlformats.org/officeDocument/2006/relationships/notesMaster" Target="/ppt/notesMasters/notesMaster1.xml" Id="R4d843d4d3a9e48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e0b0251ba54543" /><Relationship Type="http://schemas.openxmlformats.org/officeDocument/2006/relationships/notesMaster" Target="/ppt/notesMasters/notesMaster1.xml" Id="Rb08fedb6b9ff4f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6f5b1b37474b43" /><Relationship Type="http://schemas.openxmlformats.org/officeDocument/2006/relationships/notesMaster" Target="/ppt/notesMasters/notesMaster1.xml" Id="Rdccf68b1bc7d43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1ea7f9ad014a31" /><Relationship Type="http://schemas.openxmlformats.org/officeDocument/2006/relationships/notesMaster" Target="/ppt/notesMasters/notesMaster1.xml" Id="R616ed1fbe66240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651272659d4038" /><Relationship Type="http://schemas.openxmlformats.org/officeDocument/2006/relationships/notesMaster" Target="/ppt/notesMasters/notesMaster1.xml" Id="Rc433ffe72488419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cf16b857f184f56" /><Relationship Type="http://schemas.openxmlformats.org/officeDocument/2006/relationships/notesMaster" Target="/ppt/notesMasters/notesMaster1.xml" Id="R6b8dd7be16eb4e0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820622d55a34cbb" /><Relationship Type="http://schemas.openxmlformats.org/officeDocument/2006/relationships/notesMaster" Target="/ppt/notesMasters/notesMaster1.xml" Id="Rd6fc0ff9d4b54a1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d19408ade0e458e" /><Relationship Type="http://schemas.openxmlformats.org/officeDocument/2006/relationships/notesMaster" Target="/ppt/notesMasters/notesMaster1.xml" Id="Rf1a43f3107bf4ab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f1c28d78e0d4d1d" /><Relationship Type="http://schemas.openxmlformats.org/officeDocument/2006/relationships/notesMaster" Target="/ppt/notesMasters/notesMaster1.xml" Id="R399c6461413343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はじめに目標を共有する。これは同じノイズからAIが計算した実際の途中画像です、と説明する。この実装は数字の種類を指定しない無条件生成。次は、画像を変える操作を理解するため、画素の数へ話を戻す。画像はseed43 image0、t=0/0.46/1。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https://github.com/ryotkkr-del/Flow-Matching/tree/62d76729e60b4149c12f2cafc926220ba79b58a7 / ai/core.py（確率経路・TinyUNet）、ai/train.py（MSE学習）、ai/trajectory.py（Euler法）。</a:t>
            </a:r>
          </a:p>
          <a:p xmlns:a="http://schemas.openxmlformats.org/drawingml/2006/main">
            <a:r>
              <a:t>モデル出力は25epoch EMA、checkpoint SHA256 a2444c5ef8615b2fa1b0429ada397a8db79faa78eac5ccf2781a0e5573b230d5 の実保存軌道。図はすべて見やすさのため明暗を反転し、背景色から濃い色へ固定変換した。計算値や生成過程は変更していない。学習用補間図は本物のMNIST画像から作った直線上の例で、AIの生成画像とは区別してい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画像を784個の数として考える。ここでは濃淡の図として見せる。実装の学習画像は[-1,1]に正規化するが、細かい範囲はここでは説明しなくてよい。右の拡大図は左画像の行10:14・列10:14。次はこの数をどう変えるか、AIの役割に進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https://github.com/ryotkkr-del/Flow-Matching/tree/62d76729e60b4149c12f2cafc926220ba79b58a7 / ai/core.py（確率経路・TinyUNet）、ai/train.py（MSE学習）、ai/trajectory.py（Euler法）。</a:t>
            </a:r>
          </a:p>
          <a:p xmlns:a="http://schemas.openxmlformats.org/drawingml/2006/main">
            <a:r>
              <a:t>モデル出力は25epoch EMA、checkpoint SHA256 a2444c5ef8615b2fa1b0429ada397a8db79faa78eac5ccf2781a0e5573b230d5 の実保存軌道。図はすべて見やすさのため明暗を反転し、背景色から濃い色へ固定変換した。計算値や生成過程は変更していない。学習用補間図は本物のMNIST画像から作った直線上の例で、AIの生成画像とは区別してい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の入力は現在の画像と時刻、出力は画素ごとの速度。完成画像を一度に予測するのではなく、変化を予測する。中央は実速度、左t=.60、右t=.62。濃い青緑は正の速度、茶色は負の速度。表示を反転しているので、正の値が増えると図では濃くなる。次は学習の仕方に話を切り替え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https://github.com/ryotkkr-del/Flow-Matching/tree/62d76729e60b4149c12f2cafc926220ba79b58a7 / ai/core.py（確率経路・TinyUNet）、ai/train.py（MSE学習）、ai/trajectory.py（Euler法）。</a:t>
            </a:r>
          </a:p>
          <a:p xmlns:a="http://schemas.openxmlformats.org/drawingml/2006/main">
            <a:r>
              <a:t>モデル出力は25epoch EMA、checkpoint SHA256 a2444c5ef8615b2fa1b0429ada397a8db79faa78eac5ccf2781a0e5573b230d5 の実保存軌道。図はすべて見やすさのため明暗を反転し、背景色から濃い色へ固定変換した。計算値や生成過程は変更していない。学習用補間図は本物のMNIST画像から作った直線上の例で、AIの生成画像とは区別してい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こからは生成ではなく、学習用の例です、と明示する。ノイズと完成した本物の画像が両方あるので、混ぜた画像と正解の変化を作れる。ノイズと数字は独立にランダムに組み合わせる。次のページでこの同じ例の混ぜ方を式に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https://github.com/ryotkkr-del/Flow-Matching/tree/62d76729e60b4149c12f2cafc926220ba79b58a7 / ai/core.py（確率経路・TinyUNet）、ai/train.py（MSE学習）、ai/trajectory.py（Euler法）。</a:t>
            </a:r>
          </a:p>
          <a:p xmlns:a="http://schemas.openxmlformats.org/drawingml/2006/main">
            <a:r>
              <a:t>モデル出力は25epoch EMA、checkpoint SHA256 a2444c5ef8615b2fa1b0429ada397a8db79faa78eac5ccf2781a0e5573b230d5 の実保存軌道。図はすべて見やすさのため明暗を反転し、背景色から濃い色へ固定変換した。計算値や生成過程は変更していない。学習用補間図は本物のMNIST画像から作った直線上の例で、AIの生成画像とは区別してい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新しい記号を一つずつ読む。zはさっきのノイズ、yはさっきの7の画像、x_tはその途中。t=0ではzだけ、t=1ではyだけ、0.5では半分ずつ。コードのx0をz、x1をyと書き換えて説明しているだけ。次は直線の傾きの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https://github.com/ryotkkr-del/Flow-Matching/tree/62d76729e60b4149c12f2cafc926220ba79b58a7 / ai/core.py（確率経路・TinyUNet）、ai/train.py（MSE学習）、ai/trajectory.py（Euler法）。</a:t>
            </a:r>
          </a:p>
          <a:p xmlns:a="http://schemas.openxmlformats.org/drawingml/2006/main">
            <a:r>
              <a:t>モデル出力は25epoch EMA、checkpoint SHA256 a2444c5ef8615b2fa1b0429ada397a8db79faa78eac5ccf2781a0e5573b230d5 の実保存軌道。図はすべて見やすさのため明暗を反転し、背景色から濃い色へ固定変換した。計算値や生成過程は変更していない。学習用補間図は本物のMNIST画像から作った直線上の例で、AIの生成画像とは区別してい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の式をtで微分するとy-zになる。微分が難しければ、0から1までの時間にy-zだけ変わり、直線だから速さは一定、と説明する。実装は予測とuの差の二乗平均で採点するが、この段階では式を出さない。uは特定のペアに対する正解で、推論時に本物のyを知っているという意味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https://github.com/ryotkkr-del/Flow-Matching/tree/62d76729e60b4149c12f2cafc926220ba79b58a7 / ai/core.py（確率経路・TinyUNet）、ai/train.py（MSE学習）、ai/trajectory.py（Euler法）。</a:t>
            </a:r>
          </a:p>
          <a:p xmlns:a="http://schemas.openxmlformats.org/drawingml/2006/main">
            <a:r>
              <a:t>モデル出力は25epoch EMA、checkpoint SHA256 a2444c5ef8615b2fa1b0429ada397a8db79faa78eac5ccf2781a0e5573b230d5 の実保存軌道。図はすべて見やすさのため明暗を反転し、背景色から濃い色へ固定変換した。計算値や生成過程は変更していない。学習用補間図は本物のMNIST画像から作った直線上の例で、AIの生成画像とは区別してい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つのノイズと7だけで練習するのではなく、6万枚のMNIST画像からランダムなペアと時刻を作り、同じTinyUNetの重みを更新する。テストデータでは学習していない。各ペアの直線の速度が正解だが、同じ途中画像から一意のペアを復元できるとは限らず、MSEで平均的な速度を近似する。次は学習を止めて生成する段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https://github.com/ryotkkr-del/Flow-Matching/tree/62d76729e60b4149c12f2cafc926220ba79b58a7 / ai/core.py（確率経路・TinyUNet）、ai/train.py（MSE学習）、ai/trajectory.py（Euler法）。</a:t>
            </a:r>
          </a:p>
          <a:p xmlns:a="http://schemas.openxmlformats.org/drawingml/2006/main">
            <a:r>
              <a:t>モデル出力は25epoch EMA、checkpoint SHA256 a2444c5ef8615b2fa1b0429ada397a8db79faa78eac5ccf2781a0e5573b230d5 の実保存軌道。図はすべて見やすさのため明暗を反転し、背景色から濃い色へ固定変換した。計算値や生成過程は変更していない。学習用補間図は本物のMNIST画像から作った直線上の例で、AIの生成画像とは区別してい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学習で使った本物の画像yは、生成では渡さない。ノイズから出発し、学習済みのAIが毎回速度を予測する。図はseed42 image1の実Euler状態でk=0,10,20,35,50。画像を見せる間隔は均等ではないので、時間軸のグラフとしては扱わず、順番を表す図としている。数字の種類は指定しない。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https://github.com/ryotkkr-del/Flow-Matching/tree/62d76729e60b4149c12f2cafc926220ba79b58a7 / ai/core.py（確率経路・TinyUNet）、ai/train.py（MSE学習）、ai/trajectory.py（Euler法）。</a:t>
            </a:r>
          </a:p>
          <a:p xmlns:a="http://schemas.openxmlformats.org/drawingml/2006/main">
            <a:r>
              <a:t>モデル出力は25epoch EMA、checkpoint SHA256 a2444c5ef8615b2fa1b0429ada397a8db79faa78eac5ccf2781a0e5573b230d5 の実保存軌道。図はすべて見やすさのため明暗を反転し、背景色から濃い色へ固定変換した。計算値や生成過程は変更していない。学習用補間図は本物のMNIST画像から作った直線上の例で、AIの生成画像とは区別してい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_kはいまの画像、x_{k+1}は次の画像、vはAIが予測した速度、Δtは1回に進む時間。ここで初めて生成の数式を示す。例の0.20、0.10、-0.50は説明用の数値で、モデルの実測値ではない。0.20から0.05だけ減って0.15になる。Δt=.10なら10stepの刻み。展示の50stepならΔt=1/50。v_thetaのthetaは重みで、このページでは省略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https://github.com/ryotkkr-del/Flow-Matching/tree/62d76729e60b4149c12f2cafc926220ba79b58a7 / ai/core.py（確率経路・TinyUNet）、ai/train.py（MSE学習）、ai/trajectory.py（Euler法）。</a:t>
            </a:r>
          </a:p>
          <a:p xmlns:a="http://schemas.openxmlformats.org/drawingml/2006/main">
            <a:r>
              <a:t>モデル出力は25epoch EMA、checkpoint SHA256 a2444c5ef8615b2fa1b0429ada397a8db79faa78eac5ccf2781a0e5573b230d5 の実保存軌道。図はすべて見やすさのため明暗を反転し、背景色から濃い色へ固定変換した。計算値や生成過程は変更していない。学習用補間図は本物のMNIST画像から作った直線上の例で、AIの生成画像とは区別してい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後に全体を一つの話としてまとめる。学習は本物の画像から正解を作り、生成は本物の画像なしで予測を使う。生成では各時刻で速度を予測し直すため、学習時に選んだ一本の直線をそのままたどるという意味ではない。今のブラウザ体験版は実計算した経路を保存して再生している。PC版は学習済みモデルで新規計算できる。次のページは数式に興味のある人向けの補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https://github.com/ryotkkr-del/Flow-Matching/tree/62d76729e60b4149c12f2cafc926220ba79b58a7 / ai/core.py（確率経路・TinyUNet）、ai/train.py（MSE学習）、ai/trajectory.py（Euler法）。</a:t>
            </a:r>
          </a:p>
          <a:p xmlns:a="http://schemas.openxmlformats.org/drawingml/2006/main">
            <a:r>
              <a:t>モデル出力は25epoch EMA、checkpoint SHA256 a2444c5ef8615b2fa1b0429ada397a8db79faa78eac5ccf2781a0e5573b230d5 の実保存軌道。図はすべて見やすさのため明暗を反転し、背景色から濃い色へ固定変換した。計算値や生成過程は変更していない。学習用補間図は本物のMNIST画像から作った直線上の例で、AIの生成画像とは区別してい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SEのmeanは画素、チャンネル、バッチ全体の平均。画像の見た目の認識率を直接測っているわけではない。sourceのsample_pathはxt=(1-t4)*x0+t4*x1、target=x1-x0。TinyUNetへxtとtを渡し、出力とtargetの二乗平均を小さくする。ここは補足なので、初心者向けの短い説明では省略してよ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https://github.com/ryotkkr-del/Flow-Matching/tree/62d76729e60b4149c12f2cafc926220ba79b58a7 / ai/core.py（確率経路・TinyUNet）、ai/train.py（MSE学習）、ai/trajectory.py（Euler法）。</a:t>
            </a:r>
          </a:p>
          <a:p xmlns:a="http://schemas.openxmlformats.org/drawingml/2006/main">
            <a:r>
              <a:t>モデル出力は25epoch EMA、checkpoint SHA256 a2444c5ef8615b2fa1b0429ada397a8db79faa78eac5ccf2781a0e5573b230d5 の実保存軌道。図はすべて見やすさのため明暗を反転し、背景色から濃い色へ固定変換した。計算値や生成過程は変更していない。学習用補間図は本物のMNIST画像から作った直線上の例で、AIの生成画像とは区別してい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6573d9642b41b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fd8d4116d34d3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beb8e78bb543b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6419b6acc64f4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86cb6f9282485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88749b9f5f40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B95A700-0A5F-4358-8880-E7744347B8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3A2095D-05ED-4CF8-BD28-60827ABED19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F741BB2-B349-43D9-8F0A-F08F6C51B0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BDCD7A-98B9-4426-96D2-BA24AAF9D7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A415083-1286-4AAF-AAF1-A2FFB7907C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0454C70-8F99-43E1-9B86-CD355BA9AA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7E65F84-C6F9-43DE-8300-13503F9AB5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7578AF0-6711-4FC5-BA4C-FF4DC3E406F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0D74410-4211-4CBA-BF51-B7B0DEA7C1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6F7B31F-4186-4FD9-91B1-14BA627B8E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e6c04fd5ef4852" /><Relationship Type="http://schemas.openxmlformats.org/officeDocument/2006/relationships/slideLayout" Target="/ppt/slideLayouts/slideLayout1.xml" Id="R1d27a97e104442c4" /><Relationship Type="http://schemas.openxmlformats.org/officeDocument/2006/relationships/slideLayout" Target="/ppt/slideLayouts/slideLayout2.xml" Id="R2ed5cc4dc6164014" /><Relationship Type="http://schemas.openxmlformats.org/officeDocument/2006/relationships/slideLayout" Target="/ppt/slideLayouts/slideLayout3.xml" Id="R2a69d720f2e148fa" /><Relationship Type="http://schemas.openxmlformats.org/officeDocument/2006/relationships/slideLayout" Target="/ppt/slideLayouts/slideLayout4.xml" Id="R4aaedb4950294cba" /><Relationship Type="http://schemas.openxmlformats.org/officeDocument/2006/relationships/slideLayout" Target="/ppt/slideLayouts/slideLayout5.xml" Id="R27877bdeac2d42c2" /><Relationship Type="http://schemas.openxmlformats.org/officeDocument/2006/relationships/slideLayout" Target="/ppt/slideLayouts/slideLayout6.xml" Id="Rcd10fe066eec47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27a97e104442c4"/>
    <p:sldLayoutId xmlns:r="http://schemas.openxmlformats.org/officeDocument/2006/relationships" id="2147483650" r:id="R2ed5cc4dc6164014"/>
    <p:sldLayoutId xmlns:r="http://schemas.openxmlformats.org/officeDocument/2006/relationships" id="2147483651" r:id="R2a69d720f2e148fa"/>
    <p:sldLayoutId xmlns:r="http://schemas.openxmlformats.org/officeDocument/2006/relationships" id="2147483652" r:id="R4aaedb4950294cba"/>
    <p:sldLayoutId xmlns:r="http://schemas.openxmlformats.org/officeDocument/2006/relationships" id="2147483653" r:id="R27877bdeac2d42c2"/>
    <p:sldLayoutId xmlns:r="http://schemas.openxmlformats.org/officeDocument/2006/relationships" id="2147483654" r:id="Rcd10fe066eec47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21902cab1e4319" /><Relationship Type="http://schemas.openxmlformats.org/officeDocument/2006/relationships/image" Target="/ppt/media/image.png" Id="R958cc6cb4fb44ff1" /><Relationship Type="http://schemas.openxmlformats.org/officeDocument/2006/relationships/image" Target="/ppt/media/image2.png" Id="R949a938c49324db2" /><Relationship Type="http://schemas.openxmlformats.org/officeDocument/2006/relationships/image" Target="/ppt/media/image3.png" Id="R4e27a0b1963e4e9d" /><Relationship Type="http://schemas.openxmlformats.org/officeDocument/2006/relationships/notesSlide" Target="/ppt/notesSlides/notesSlide1.xml" Id="R5008ea9bf9834c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c451639dbb4993" /><Relationship Type="http://schemas.openxmlformats.org/officeDocument/2006/relationships/image" Target="/ppt/media/image4.png" Id="Ra0c7e4c591974433" /><Relationship Type="http://schemas.openxmlformats.org/officeDocument/2006/relationships/image" Target="/ppt/media/image5.png" Id="R1a2d9a5143e34fc7" /><Relationship Type="http://schemas.openxmlformats.org/officeDocument/2006/relationships/notesSlide" Target="/ppt/notesSlides/notesSlide2.xml" Id="R3d9db428a09047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e50710cd804488" /><Relationship Type="http://schemas.openxmlformats.org/officeDocument/2006/relationships/image" Target="/ppt/media/image6.png" Id="Rdf57933eca184d0b" /><Relationship Type="http://schemas.openxmlformats.org/officeDocument/2006/relationships/image" Target="/ppt/media/image7.png" Id="R32511d71a144428e" /><Relationship Type="http://schemas.openxmlformats.org/officeDocument/2006/relationships/image" Target="/ppt/media/image8.png" Id="R7177032c56fb45bc" /><Relationship Type="http://schemas.openxmlformats.org/officeDocument/2006/relationships/notesSlide" Target="/ppt/notesSlides/notesSlide3.xml" Id="Redf82239104b44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eadcb9e3ba4f98" /><Relationship Type="http://schemas.openxmlformats.org/officeDocument/2006/relationships/image" Target="/ppt/media/image9.png" Id="Rcf51631f688f4464" /><Relationship Type="http://schemas.openxmlformats.org/officeDocument/2006/relationships/image" Target="/ppt/media/image10.png" Id="R9acb49941a6a4f15" /><Relationship Type="http://schemas.openxmlformats.org/officeDocument/2006/relationships/image" Target="/ppt/media/image11.png" Id="Rf51e7f0d4a78460c" /><Relationship Type="http://schemas.openxmlformats.org/officeDocument/2006/relationships/notesSlide" Target="/ppt/notesSlides/notesSlide4.xml" Id="Rb9b9b02aef8d45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44fc61d351415b" /><Relationship Type="http://schemas.openxmlformats.org/officeDocument/2006/relationships/notesSlide" Target="/ppt/notesSlides/notesSlide5.xml" Id="R4b15d99c090341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65d332121c490d" /><Relationship Type="http://schemas.openxmlformats.org/officeDocument/2006/relationships/notesSlide" Target="/ppt/notesSlides/notesSlide6.xml" Id="R5e0896ddc22e4e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8d1b71d5bb48a3" /><Relationship Type="http://schemas.openxmlformats.org/officeDocument/2006/relationships/image" Target="/ppt/media/image12.png" Id="R539b471ae0ba4884" /><Relationship Type="http://schemas.openxmlformats.org/officeDocument/2006/relationships/image" Target="/ppt/media/image13.png" Id="R0c4df595048941fc" /><Relationship Type="http://schemas.openxmlformats.org/officeDocument/2006/relationships/image" Target="/ppt/media/image14.png" Id="R7d0e03855a9144ed" /><Relationship Type="http://schemas.openxmlformats.org/officeDocument/2006/relationships/image" Target="/ppt/media/image15.png" Id="Ra0708cd93f9d4358" /><Relationship Type="http://schemas.openxmlformats.org/officeDocument/2006/relationships/image" Target="/ppt/media/image16.png" Id="Rc9142796f3434f8c" /><Relationship Type="http://schemas.openxmlformats.org/officeDocument/2006/relationships/image" Target="/ppt/media/image17.png" Id="R0394f2c899814fe5" /><Relationship Type="http://schemas.openxmlformats.org/officeDocument/2006/relationships/notesSlide" Target="/ppt/notesSlides/notesSlide7.xml" Id="R781a1674144745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60936dd9d3424a" /><Relationship Type="http://schemas.openxmlformats.org/officeDocument/2006/relationships/image" Target="/ppt/media/image18.png" Id="R8af0e8fdbd514196" /><Relationship Type="http://schemas.openxmlformats.org/officeDocument/2006/relationships/image" Target="/ppt/media/image19.png" Id="R23cb3ec905594e93" /><Relationship Type="http://schemas.openxmlformats.org/officeDocument/2006/relationships/image" Target="/ppt/media/image20.png" Id="Ra849276c316a4940" /><Relationship Type="http://schemas.openxmlformats.org/officeDocument/2006/relationships/image" Target="/ppt/media/image21.png" Id="R8bff89edf3fd4b94" /><Relationship Type="http://schemas.openxmlformats.org/officeDocument/2006/relationships/image" Target="/ppt/media/image22.png" Id="Rf0f8782c25e44755" /><Relationship Type="http://schemas.openxmlformats.org/officeDocument/2006/relationships/notesSlide" Target="/ppt/notesSlides/notesSlide8.xml" Id="R7198262a878f4fb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3333229355443f" /><Relationship Type="http://schemas.openxmlformats.org/officeDocument/2006/relationships/notesSlide" Target="/ppt/notesSlides/notesSlide9.xml" Id="Rafdeb7d55c3b43f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29a075f858419f" /><Relationship Type="http://schemas.openxmlformats.org/officeDocument/2006/relationships/notesSlide" Target="/ppt/notesSlides/notesSlide10.xml" Id="R9e2cfa207eba4b3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92fd9ba3e942eb" /><Relationship Type="http://schemas.openxmlformats.org/officeDocument/2006/relationships/notesSlide" Target="/ppt/notesSlides/notesSlide11.xml" Id="R34c358d0f5e949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5286CCD6-6EFF-4558-9443-2AC89695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defPPr>
            <a:lvl1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1pPr>
            <a:lvl2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2pPr>
            <a:lvl3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3pPr>
            <a:lvl4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4pPr>
            <a:lvl5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5pPr>
            <a:lvl6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6pPr>
            <a:lvl7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7pPr>
            <a:lvl8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8pPr>
            <a:lvl9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rPr>
              <a:t>Flow Matching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0E77F42-1728-40BA-B0B0-54BABDDA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defPPr>
            <a:lvl1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1pPr>
            <a:lvl2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2pPr>
            <a:lvl3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3pPr>
            <a:lvl4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4pPr>
            <a:lvl5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5pPr>
            <a:lvl6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6pPr>
            <a:lvl7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7pPr>
            <a:lvl8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8pPr>
            <a:lvl9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rPr>
              <a:t>ノイズから数字を作るAIのしくみ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4FDADD-62A0-40EF-BB30-828F58D3E3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8cc6cb4fb44ff1"/>
          <a:stretch xmlns:a="http://schemas.openxmlformats.org/drawingml/2006/main"/>
        </p:blipFill>
        <p:spPr>
          <a:xfrm xmlns:a="http://schemas.openxmlformats.org/drawingml/2006/main">
            <a:off x="990600" y="2571750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4" name="label-0">
            <a:extLst xmlns:a="http://schemas.openxmlformats.org/drawingml/2006/main">
              <a:ext uri="{FF2B5EF4-FFF2-40B4-BE49-F238E27FC236}">
                <a16:creationId xmlns:a16="http://schemas.microsoft.com/office/drawing/2014/main" id="{9288C539-00DB-4B74-B51C-97C4F1C9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5425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defPPr>
            <a:lvl1pPr algn="ctr">
              <a:defRPr sz="24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1pPr>
            <a:lvl2pPr algn="ctr">
              <a:defRPr sz="24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2pPr>
            <a:lvl3pPr algn="ctr">
              <a:defRPr sz="24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3pPr>
            <a:lvl4pPr algn="ctr">
              <a:defRPr sz="24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4pPr>
            <a:lvl5pPr algn="ctr">
              <a:defRPr sz="24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5pPr>
            <a:lvl6pPr algn="ctr">
              <a:defRPr sz="24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6pPr>
            <a:lvl7pPr algn="ctr">
              <a:defRPr sz="24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7pPr>
            <a:lvl8pPr algn="ctr">
              <a:defRPr sz="24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8pPr>
            <a:lvl9pPr algn="ctr">
              <a:defRPr sz="24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ctr">
              <a:defRPr sz="24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4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rPr>
              <a:t>最初はノイズ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BD7249-DB7E-44AD-B598-897B7656D8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9a938c49324db2"/>
          <a:stretch xmlns:a="http://schemas.openxmlformats.org/drawingml/2006/main"/>
        </p:blipFill>
        <p:spPr>
          <a:xfrm xmlns:a="http://schemas.openxmlformats.org/drawingml/2006/main">
            <a:off x="4800600" y="2571750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6" name="label-1">
            <a:extLst xmlns:a="http://schemas.openxmlformats.org/drawingml/2006/main">
              <a:ext uri="{FF2B5EF4-FFF2-40B4-BE49-F238E27FC236}">
                <a16:creationId xmlns:a16="http://schemas.microsoft.com/office/drawing/2014/main" id="{F1645B68-1D4A-493E-9D9B-F248D8C1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305425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defPPr>
            <a:lvl1pPr algn="ctr">
              <a:defRPr sz="24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1pPr>
            <a:lvl2pPr algn="ctr">
              <a:defRPr sz="24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2pPr>
            <a:lvl3pPr algn="ctr">
              <a:defRPr sz="24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3pPr>
            <a:lvl4pPr algn="ctr">
              <a:defRPr sz="24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4pPr>
            <a:lvl5pPr algn="ctr">
              <a:defRPr sz="24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5pPr>
            <a:lvl6pPr algn="ctr">
              <a:defRPr sz="24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6pPr>
            <a:lvl7pPr algn="ctr">
              <a:defRPr sz="24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7pPr>
            <a:lvl8pPr algn="ctr">
              <a:defRPr sz="24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8pPr>
            <a:lvl9pPr algn="ctr">
              <a:defRPr sz="24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ctr">
              <a:defRPr sz="24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4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rPr>
              <a:t>少しずつ変える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54354-9BF0-46B6-B033-042C08BFEC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27a0b1963e4e9d"/>
          <a:stretch xmlns:a="http://schemas.openxmlformats.org/drawingml/2006/main"/>
        </p:blipFill>
        <p:spPr>
          <a:xfrm xmlns:a="http://schemas.openxmlformats.org/drawingml/2006/main">
            <a:off x="8610600" y="2571750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8" name="label-2">
            <a:extLst xmlns:a="http://schemas.openxmlformats.org/drawingml/2006/main">
              <a:ext uri="{FF2B5EF4-FFF2-40B4-BE49-F238E27FC236}">
                <a16:creationId xmlns:a16="http://schemas.microsoft.com/office/drawing/2014/main" id="{EE5AD96A-E898-428C-A0EE-B57F1629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305425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defPPr>
            <a:lvl1pPr algn="ctr">
              <a:defRPr sz="24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1pPr>
            <a:lvl2pPr algn="ctr">
              <a:defRPr sz="24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2pPr>
            <a:lvl3pPr algn="ctr">
              <a:defRPr sz="24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3pPr>
            <a:lvl4pPr algn="ctr">
              <a:defRPr sz="24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4pPr>
            <a:lvl5pPr algn="ctr">
              <a:defRPr sz="24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5pPr>
            <a:lvl6pPr algn="ctr">
              <a:defRPr sz="24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6pPr>
            <a:lvl7pPr algn="ctr">
              <a:defRPr sz="24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7pPr>
            <a:lvl8pPr algn="ctr">
              <a:defRPr sz="24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8pPr>
            <a:lvl9pPr algn="ctr">
              <a:defRPr sz="24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ctr">
              <a:defRPr sz="24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4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rPr>
              <a:t>数字の画像になる</a:t>
            </a:r>
          </a:p>
        </p:txBody>
      </p:sp>
      <p:sp>
        <p:nvSpPr>
          <p:cNvPr id="9" name="bridge">
            <a:extLst xmlns:a="http://schemas.openxmlformats.org/drawingml/2006/main">
              <a:ext uri="{FF2B5EF4-FFF2-40B4-BE49-F238E27FC236}">
                <a16:creationId xmlns:a16="http://schemas.microsoft.com/office/drawing/2014/main" id="{AAE64C98-763B-4FC4-8E4A-10A47F68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defPPr>
            <a:lvl1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1pPr>
            <a:lvl2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2pPr>
            <a:lvl3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3pPr>
            <a:lvl4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4pPr>
            <a:lvl5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5pPr>
            <a:lvl6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6pPr>
            <a:lvl7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7pPr>
            <a:lvl8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8pPr>
            <a:lvl9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rPr>
              <a:t>まず、画像を「変える」とは何かを見てみます。</a:t>
            </a:r>
          </a:p>
        </p:txBody>
      </p:sp>
    </p:spTree>
    <p:extLst>
      <p:ext uri="{BB962C8B-B14F-4D97-AF65-F5344CB8AC3E}">
        <p14:creationId xmlns:p14="http://schemas.microsoft.com/office/powerpoint/2010/main" val="2700906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EFF116A2-F149-43C6-AC83-D50D6269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defPPr>
            <a:lvl1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1pPr>
            <a:lvl2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2pPr>
            <a:lvl3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3pPr>
            <a:lvl4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4pPr>
            <a:lvl5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5pPr>
            <a:lvl6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6pPr>
            <a:lvl7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7pPr>
            <a:lvl8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8pPr>
            <a:lvl9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rPr>
              <a:t>画像は、濃淡を表す数の集まり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21AA0A8-A7B6-4ECA-9E7F-D5AA8EED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defPPr>
            <a:lvl1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1pPr>
            <a:lvl2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2pPr>
            <a:lvl3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3pPr>
            <a:lvl4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4pPr>
            <a:lvl5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5pPr>
            <a:lvl6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6pPr>
            <a:lvl7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7pPr>
            <a:lvl8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8pPr>
            <a:lvl9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rPr>
              <a:t>画像を少し変えることは、その数を少し変えること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81ABBC-AE28-4D22-9296-D7B334EC0A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c7e4c591974433"/>
          <a:stretch xmlns:a="http://schemas.openxmlformats.org/drawingml/2006/main"/>
        </p:blipFill>
        <p:spPr>
          <a:xfrm xmlns:a="http://schemas.openxmlformats.org/drawingml/2006/main">
            <a:off x="990600" y="2409825"/>
            <a:ext cx="2857500" cy="285750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5210A1-C8F6-43AD-80B6-771D1B81E2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2d9a5143e34fc7"/>
          <a:stretch xmlns:a="http://schemas.openxmlformats.org/drawingml/2006/main"/>
        </p:blipFill>
        <p:spPr>
          <a:xfrm xmlns:a="http://schemas.openxmlformats.org/drawingml/2006/main">
            <a:off x="4857750" y="2819400"/>
            <a:ext cx="1600200" cy="1600200"/>
          </a:xfrm>
          <a:prstGeom xmlns:a="http://schemas.openxmlformats.org/drawingml/2006/main" prst="rect">
            <a:avLst/>
          </a:prstGeom>
        </p:spPr>
      </p:pic>
      <p:sp>
        <p:nvSpPr>
          <p:cNvPr id="5" name="full-label">
            <a:extLst xmlns:a="http://schemas.openxmlformats.org/drawingml/2006/main">
              <a:ext uri="{FF2B5EF4-FFF2-40B4-BE49-F238E27FC236}">
                <a16:creationId xmlns:a16="http://schemas.microsoft.com/office/drawing/2014/main" id="{144D9452-A841-47B8-AB1A-653A6060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1020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defPPr>
            <a:lvl1pPr algn="ctr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1pPr>
            <a:lvl2pPr algn="ctr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2pPr>
            <a:lvl3pPr algn="ctr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3pPr>
            <a:lvl4pPr algn="ctr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4pPr>
            <a:lvl5pPr algn="ctr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5pPr>
            <a:lvl6pPr algn="ctr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6pPr>
            <a:lvl7pPr algn="ctr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7pPr>
            <a:lvl8pPr algn="ctr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8pPr>
            <a:lvl9pPr algn="ctr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rPr>
              <a:t>28 × 28個の画素</a:t>
            </a:r>
          </a:p>
        </p:txBody>
      </p:sp>
      <p:sp>
        <p:nvSpPr>
          <p:cNvPr id="6" name="crop-label">
            <a:extLst xmlns:a="http://schemas.openxmlformats.org/drawingml/2006/main">
              <a:ext uri="{FF2B5EF4-FFF2-40B4-BE49-F238E27FC236}">
                <a16:creationId xmlns:a16="http://schemas.microsoft.com/office/drawing/2014/main" id="{CC6F7027-F4EA-4A54-9C7C-327A2B47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6250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defPPr>
            <a:lvl1pPr algn="ctr">
              <a:defRPr sz="217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1pPr>
            <a:lvl2pPr algn="ctr">
              <a:defRPr sz="217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2pPr>
            <a:lvl3pPr algn="ctr">
              <a:defRPr sz="217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3pPr>
            <a:lvl4pPr algn="ctr">
              <a:defRPr sz="217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4pPr>
            <a:lvl5pPr algn="ctr">
              <a:defRPr sz="217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5pPr>
            <a:lvl6pPr algn="ctr">
              <a:defRPr sz="217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6pPr>
            <a:lvl7pPr algn="ctr">
              <a:defRPr sz="217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7pPr>
            <a:lvl8pPr algn="ctr">
              <a:defRPr sz="217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8pPr>
            <a:lvl9pPr algn="ctr">
              <a:defRPr sz="217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rPr>
              <a:t>一部分を拡大</a:t>
            </a:r>
          </a:p>
        </p:txBody>
      </p:sp>
      <p:sp>
        <p:nvSpPr>
          <p:cNvPr id="7" name="main-idea">
            <a:extLst xmlns:a="http://schemas.openxmlformats.org/drawingml/2006/main">
              <a:ext uri="{FF2B5EF4-FFF2-40B4-BE49-F238E27FC236}">
                <a16:creationId xmlns:a16="http://schemas.microsoft.com/office/drawing/2014/main" id="{EA5C0904-FF46-4820-8C36-A39E56E6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571750"/>
            <a:ext cx="4238625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defPPr>
            <a:lvl1pPr algn="l">
              <a:defRPr sz="27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1pPr>
            <a:lvl2pPr algn="l">
              <a:defRPr sz="27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2pPr>
            <a:lvl3pPr algn="l">
              <a:defRPr sz="27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3pPr>
            <a:lvl4pPr algn="l">
              <a:defRPr sz="27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4pPr>
            <a:lvl5pPr algn="l">
              <a:defRPr sz="27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5pPr>
            <a:lvl6pPr algn="l">
              <a:defRPr sz="27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6pPr>
            <a:lvl7pPr algn="l">
              <a:defRPr sz="27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7pPr>
            <a:lvl8pPr algn="l">
              <a:defRPr sz="27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8pPr>
            <a:lvl9pPr algn="l">
              <a:defRPr sz="27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7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rPr>
              <a:t>画素ごとに</a:t>
            </a:r>
          </a:p>
          <a:p xmlns:a="http://schemas.openxmlformats.org/drawingml/2006/main">
            <a:pPr algn="l">
              <a:defRPr sz="27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7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rPr>
              <a:t>濃くするか、薄くするか</a:t>
            </a:r>
          </a:p>
          <a:p xmlns:a="http://schemas.openxmlformats.org/drawingml/2006/main">
            <a:pPr algn="l">
              <a:defRPr sz="27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7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rPr>
              <a:t>どれくらい変えるか</a:t>
            </a:r>
          </a:p>
          <a:p xmlns:a="http://schemas.openxmlformats.org/drawingml/2006/main">
            <a:pPr algn="l">
              <a:defRPr sz="27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7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rPr>
              <a:t>を決める</a:t>
            </a:r>
          </a:p>
        </p:txBody>
      </p:sp>
      <p:sp>
        <p:nvSpPr>
          <p:cNvPr id="8" name="bridge">
            <a:extLst xmlns:a="http://schemas.openxmlformats.org/drawingml/2006/main">
              <a:ext uri="{FF2B5EF4-FFF2-40B4-BE49-F238E27FC236}">
                <a16:creationId xmlns:a16="http://schemas.microsoft.com/office/drawing/2014/main" id="{6D77897B-A3A7-4D4B-AF7E-4F37DE67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defPPr>
            <a:lvl1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1pPr>
            <a:lvl2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2pPr>
            <a:lvl3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3pPr>
            <a:lvl4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4pPr>
            <a:lvl5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5pPr>
            <a:lvl6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6pPr>
            <a:lvl7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7pPr>
            <a:lvl8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8pPr>
            <a:lvl9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rPr>
              <a:t>その「変え方」を予測するのが、今回のAIです。</a:t>
            </a:r>
          </a:p>
        </p:txBody>
      </p:sp>
    </p:spTree>
    <p:extLst>
      <p:ext uri="{BB962C8B-B14F-4D97-AF65-F5344CB8AC3E}">
        <p14:creationId xmlns:p14="http://schemas.microsoft.com/office/powerpoint/2010/main" val="8528517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02B24430-A503-4230-A5B3-676603E6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defPPr>
            <a:lvl1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1pPr>
            <a:lvl2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2pPr>
            <a:lvl3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3pPr>
            <a:lvl4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4pPr>
            <a:lvl5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5pPr>
            <a:lvl6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6pPr>
            <a:lvl7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7pPr>
            <a:lvl8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8pPr>
            <a:lvl9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rPr>
              <a:t>AIは、画像の変え方を予測する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BC4FCA5-ED93-4D4D-A4AC-70499254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defPPr>
            <a:lvl1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1pPr>
            <a:lvl2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2pPr>
            <a:lvl3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3pPr>
            <a:lvl4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4pPr>
            <a:lvl5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5pPr>
            <a:lvl6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6pPr>
            <a:lvl7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7pPr>
            <a:lvl8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8pPr>
            <a:lvl9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rPr>
              <a:t>今の画像と進み具合から、変化の速さを予測する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C42DFC-EE15-4580-9693-34943A2C78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57933eca184d0b"/>
          <a:stretch xmlns:a="http://schemas.openxmlformats.org/drawingml/2006/main"/>
        </p:blipFill>
        <p:spPr>
          <a:xfrm xmlns:a="http://schemas.openxmlformats.org/drawingml/2006/main">
            <a:off x="1000125" y="2571750"/>
            <a:ext cx="2428875" cy="2428875"/>
          </a:xfrm>
          <a:prstGeom xmlns:a="http://schemas.openxmlformats.org/drawingml/2006/main" prst="rect">
            <a:avLst/>
          </a:prstGeom>
        </p:spPr>
      </p:pic>
      <p:sp>
        <p:nvSpPr>
          <p:cNvPr id="4" name="label-0">
            <a:extLst xmlns:a="http://schemas.openxmlformats.org/drawingml/2006/main">
              <a:ext uri="{FF2B5EF4-FFF2-40B4-BE49-F238E27FC236}">
                <a16:creationId xmlns:a16="http://schemas.microsoft.com/office/drawing/2014/main" id="{B1873BD5-CF82-4A6E-9535-3A5C3E67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defPPr>
            <a:lvl1pPr algn="ctr">
              <a:defRPr sz="24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1pPr>
            <a:lvl2pPr algn="ctr">
              <a:defRPr sz="24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2pPr>
            <a:lvl3pPr algn="ctr">
              <a:defRPr sz="24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3pPr>
            <a:lvl4pPr algn="ctr">
              <a:defRPr sz="24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4pPr>
            <a:lvl5pPr algn="ctr">
              <a:defRPr sz="24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5pPr>
            <a:lvl6pPr algn="ctr">
              <a:defRPr sz="24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6pPr>
            <a:lvl7pPr algn="ctr">
              <a:defRPr sz="24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7pPr>
            <a:lvl8pPr algn="ctr">
              <a:defRPr sz="24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8pPr>
            <a:lvl9pPr algn="ctr">
              <a:defRPr sz="24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ctr">
              <a:defRPr sz="24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4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rPr>
              <a:t>今の画像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2E0553-CC34-42B6-B7FC-5A0EB74B5F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511d71a144428e"/>
          <a:stretch xmlns:a="http://schemas.openxmlformats.org/drawingml/2006/main"/>
        </p:blipFill>
        <p:spPr>
          <a:xfrm xmlns:a="http://schemas.openxmlformats.org/drawingml/2006/main">
            <a:off x="4810125" y="2571750"/>
            <a:ext cx="2428875" cy="2428875"/>
          </a:xfrm>
          <a:prstGeom xmlns:a="http://schemas.openxmlformats.org/drawingml/2006/main" prst="rect">
            <a:avLst/>
          </a:prstGeom>
        </p:spPr>
      </p:pic>
      <p:sp>
        <p:nvSpPr>
          <p:cNvPr id="6" name="label-1">
            <a:extLst xmlns:a="http://schemas.openxmlformats.org/drawingml/2006/main">
              <a:ext uri="{FF2B5EF4-FFF2-40B4-BE49-F238E27FC236}">
                <a16:creationId xmlns:a16="http://schemas.microsoft.com/office/drawing/2014/main" id="{859732A3-73D8-48C4-9782-76D3BD47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2387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7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defPPr>
            <a:lvl1pPr algn="ctr">
              <a:defRPr sz="247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1pPr>
            <a:lvl2pPr algn="ctr">
              <a:defRPr sz="247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2pPr>
            <a:lvl3pPr algn="ctr">
              <a:defRPr sz="247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3pPr>
            <a:lvl4pPr algn="ctr">
              <a:defRPr sz="247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4pPr>
            <a:lvl5pPr algn="ctr">
              <a:defRPr sz="247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5pPr>
            <a:lvl6pPr algn="ctr">
              <a:defRPr sz="247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6pPr>
            <a:lvl7pPr algn="ctr">
              <a:defRPr sz="247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7pPr>
            <a:lvl8pPr algn="ctr">
              <a:defRPr sz="247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8pPr>
            <a:lvl9pPr algn="ctr">
              <a:defRPr sz="247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ctr">
              <a:defRPr sz="247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47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rPr>
              <a:t>AIの予測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6EC3C7-3B5D-4295-809F-05B2EF71A6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77032c56fb45bc"/>
          <a:stretch xmlns:a="http://schemas.openxmlformats.org/drawingml/2006/main"/>
        </p:blipFill>
        <p:spPr>
          <a:xfrm xmlns:a="http://schemas.openxmlformats.org/drawingml/2006/main">
            <a:off x="8620125" y="2571750"/>
            <a:ext cx="2428875" cy="2428875"/>
          </a:xfrm>
          <a:prstGeom xmlns:a="http://schemas.openxmlformats.org/drawingml/2006/main" prst="rect">
            <a:avLst/>
          </a:prstGeom>
        </p:spPr>
      </p:pic>
      <p:sp>
        <p:nvSpPr>
          <p:cNvPr id="8" name="label-2">
            <a:extLst xmlns:a="http://schemas.openxmlformats.org/drawingml/2006/main">
              <a:ext uri="{FF2B5EF4-FFF2-40B4-BE49-F238E27FC236}">
                <a16:creationId xmlns:a16="http://schemas.microsoft.com/office/drawing/2014/main" id="{EAE7E18A-EB91-4C55-81DE-C669F9D8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2387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defPPr>
            <a:lvl1pPr algn="ctr">
              <a:defRPr sz="24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1pPr>
            <a:lvl2pPr algn="ctr">
              <a:defRPr sz="24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2pPr>
            <a:lvl3pPr algn="ctr">
              <a:defRPr sz="24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3pPr>
            <a:lvl4pPr algn="ctr">
              <a:defRPr sz="24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4pPr>
            <a:lvl5pPr algn="ctr">
              <a:defRPr sz="24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5pPr>
            <a:lvl6pPr algn="ctr">
              <a:defRPr sz="24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6pPr>
            <a:lvl7pPr algn="ctr">
              <a:defRPr sz="24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7pPr>
            <a:lvl8pPr algn="ctr">
              <a:defRPr sz="24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8pPr>
            <a:lvl9pPr algn="ctr">
              <a:defRPr sz="24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ctr">
              <a:defRPr sz="24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4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rPr>
              <a:t>少し変えた画像</a:t>
            </a:r>
          </a:p>
        </p:txBody>
      </p:sp>
      <p:sp>
        <p:nvSpPr>
          <p:cNvPr id="9" name="legend-dark">
            <a:extLst xmlns:a="http://schemas.openxmlformats.org/drawingml/2006/main">
              <a:ext uri="{FF2B5EF4-FFF2-40B4-BE49-F238E27FC236}">
                <a16:creationId xmlns:a16="http://schemas.microsoft.com/office/drawing/2014/main" id="{A956A011-2D7B-403D-A74B-6CFEFC84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65785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defPPr>
            <a:lvl1pPr algn="ctr">
              <a:defRPr sz="18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1pPr>
            <a:lvl2pPr algn="ctr">
              <a:defRPr sz="18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2pPr>
            <a:lvl3pPr algn="ctr">
              <a:defRPr sz="18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3pPr>
            <a:lvl4pPr algn="ctr">
              <a:defRPr sz="18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4pPr>
            <a:lvl5pPr algn="ctr">
              <a:defRPr sz="18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5pPr>
            <a:lvl6pPr algn="ctr">
              <a:defRPr sz="18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6pPr>
            <a:lvl7pPr algn="ctr">
              <a:defRPr sz="18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7pPr>
            <a:lvl8pPr algn="ctr">
              <a:defRPr sz="18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8pPr>
            <a:lvl9pPr algn="ctr">
              <a:defRPr sz="18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rPr>
              <a:t>濃くする</a:t>
            </a:r>
          </a:p>
        </p:txBody>
      </p:sp>
      <p:sp>
        <p:nvSpPr>
          <p:cNvPr id="10" name="legend-light">
            <a:extLst xmlns:a="http://schemas.openxmlformats.org/drawingml/2006/main">
              <a:ext uri="{FF2B5EF4-FFF2-40B4-BE49-F238E27FC236}">
                <a16:creationId xmlns:a16="http://schemas.microsoft.com/office/drawing/2014/main" id="{E9992CB2-3A70-4341-B0F1-8A5C14D5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5785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AF7048"/>
                </a:solidFill>
                <a:latin typeface="Noto Sans CJK JP"/>
                <a:ea typeface="Noto Sans CJK JP"/>
                <a:cs typeface="Noto Sans CJK JP"/>
              </a:defRPr>
            </a:defPPr>
            <a:lvl1pPr algn="ctr">
              <a:defRPr sz="1800" b="0">
                <a:solidFill>
                  <a:srgbClr val="AF7048"/>
                </a:solidFill>
                <a:latin typeface="Noto Sans CJK JP"/>
                <a:ea typeface="Noto Sans CJK JP"/>
                <a:cs typeface="Noto Sans CJK JP"/>
              </a:defRPr>
            </a:lvl1pPr>
            <a:lvl2pPr algn="ctr">
              <a:defRPr sz="1800" b="0">
                <a:solidFill>
                  <a:srgbClr val="AF7048"/>
                </a:solidFill>
                <a:latin typeface="Noto Sans CJK JP"/>
                <a:ea typeface="Noto Sans CJK JP"/>
                <a:cs typeface="Noto Sans CJK JP"/>
              </a:defRPr>
            </a:lvl2pPr>
            <a:lvl3pPr algn="ctr">
              <a:defRPr sz="1800" b="0">
                <a:solidFill>
                  <a:srgbClr val="AF7048"/>
                </a:solidFill>
                <a:latin typeface="Noto Sans CJK JP"/>
                <a:ea typeface="Noto Sans CJK JP"/>
                <a:cs typeface="Noto Sans CJK JP"/>
              </a:defRPr>
            </a:lvl3pPr>
            <a:lvl4pPr algn="ctr">
              <a:defRPr sz="1800" b="0">
                <a:solidFill>
                  <a:srgbClr val="AF7048"/>
                </a:solidFill>
                <a:latin typeface="Noto Sans CJK JP"/>
                <a:ea typeface="Noto Sans CJK JP"/>
                <a:cs typeface="Noto Sans CJK JP"/>
              </a:defRPr>
            </a:lvl4pPr>
            <a:lvl5pPr algn="ctr">
              <a:defRPr sz="1800" b="0">
                <a:solidFill>
                  <a:srgbClr val="AF7048"/>
                </a:solidFill>
                <a:latin typeface="Noto Sans CJK JP"/>
                <a:ea typeface="Noto Sans CJK JP"/>
                <a:cs typeface="Noto Sans CJK JP"/>
              </a:defRPr>
            </a:lvl5pPr>
            <a:lvl6pPr algn="ctr">
              <a:defRPr sz="1800" b="0">
                <a:solidFill>
                  <a:srgbClr val="AF7048"/>
                </a:solidFill>
                <a:latin typeface="Noto Sans CJK JP"/>
                <a:ea typeface="Noto Sans CJK JP"/>
                <a:cs typeface="Noto Sans CJK JP"/>
              </a:defRPr>
            </a:lvl6pPr>
            <a:lvl7pPr algn="ctr">
              <a:defRPr sz="1800" b="0">
                <a:solidFill>
                  <a:srgbClr val="AF7048"/>
                </a:solidFill>
                <a:latin typeface="Noto Sans CJK JP"/>
                <a:ea typeface="Noto Sans CJK JP"/>
                <a:cs typeface="Noto Sans CJK JP"/>
              </a:defRPr>
            </a:lvl7pPr>
            <a:lvl8pPr algn="ctr">
              <a:defRPr sz="1800" b="0">
                <a:solidFill>
                  <a:srgbClr val="AF7048"/>
                </a:solidFill>
                <a:latin typeface="Noto Sans CJK JP"/>
                <a:ea typeface="Noto Sans CJK JP"/>
                <a:cs typeface="Noto Sans CJK JP"/>
              </a:defRPr>
            </a:lvl8pPr>
            <a:lvl9pPr algn="ctr">
              <a:defRPr sz="1800" b="0">
                <a:solidFill>
                  <a:srgbClr val="AF7048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AF704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0">
                <a:solidFill>
                  <a:srgbClr val="AF7048"/>
                </a:solidFill>
                <a:latin typeface="Noto Sans CJK JP"/>
                <a:ea typeface="Noto Sans CJK JP"/>
                <a:cs typeface="Noto Sans CJK JP"/>
              </a:rPr>
              <a:t>薄くする</a:t>
            </a:r>
          </a:p>
        </p:txBody>
      </p:sp>
      <p:sp>
        <p:nvSpPr>
          <p:cNvPr id="11" name="bridge">
            <a:extLst xmlns:a="http://schemas.openxmlformats.org/drawingml/2006/main">
              <a:ext uri="{FF2B5EF4-FFF2-40B4-BE49-F238E27FC236}">
                <a16:creationId xmlns:a16="http://schemas.microsoft.com/office/drawing/2014/main" id="{3D01AC73-62C8-4C99-A7C2-4F94ECC5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defPPr>
            <a:lvl1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1pPr>
            <a:lvl2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2pPr>
            <a:lvl3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3pPr>
            <a:lvl4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4pPr>
            <a:lvl5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5pPr>
            <a:lvl6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6pPr>
            <a:lvl7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7pPr>
            <a:lvl8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8pPr>
            <a:lvl9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rPr>
              <a:t>では、この変え方をどうやって覚えるのでしょうか。</a:t>
            </a:r>
          </a:p>
        </p:txBody>
      </p:sp>
    </p:spTree>
    <p:extLst>
      <p:ext uri="{BB962C8B-B14F-4D97-AF65-F5344CB8AC3E}">
        <p14:creationId xmlns:p14="http://schemas.microsoft.com/office/powerpoint/2010/main" val="3728917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5F63BC16-E2A4-43E7-81CA-96D3883F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defPPr>
            <a:lvl1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1pPr>
            <a:lvl2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2pPr>
            <a:lvl3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3pPr>
            <a:lvl4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4pPr>
            <a:lvl5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5pPr>
            <a:lvl6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6pPr>
            <a:lvl7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7pPr>
            <a:lvl8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8pPr>
            <a:lvl9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rPr>
              <a:t>練習では、本物の数字を使う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8C694A4-7D1A-4D98-8BFC-5B1E388B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defPPr>
            <a:lvl1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1pPr>
            <a:lvl2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2pPr>
            <a:lvl3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3pPr>
            <a:lvl4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4pPr>
            <a:lvl5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5pPr>
            <a:lvl6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6pPr>
            <a:lvl7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7pPr>
            <a:lvl8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8pPr>
            <a:lvl9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rPr>
              <a:t>ノイズと本物の数字を混ぜて、途中の画像を作る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6577E8-C38D-4EE8-AFDD-45490A4F70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51631f688f4464"/>
          <a:stretch xmlns:a="http://schemas.openxmlformats.org/drawingml/2006/main"/>
        </p:blipFill>
        <p:spPr>
          <a:xfrm xmlns:a="http://schemas.openxmlformats.org/drawingml/2006/main">
            <a:off x="1000125" y="2600325"/>
            <a:ext cx="2428875" cy="2428875"/>
          </a:xfrm>
          <a:prstGeom xmlns:a="http://schemas.openxmlformats.org/drawingml/2006/main" prst="rect">
            <a:avLst/>
          </a:prstGeom>
        </p:spPr>
      </p:pic>
      <p:sp>
        <p:nvSpPr>
          <p:cNvPr id="4" name="label-0">
            <a:extLst xmlns:a="http://schemas.openxmlformats.org/drawingml/2006/main">
              <a:ext uri="{FF2B5EF4-FFF2-40B4-BE49-F238E27FC236}">
                <a16:creationId xmlns:a16="http://schemas.microsoft.com/office/drawing/2014/main" id="{FFFEA4AD-F1EC-401D-BAEC-4842AE07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defPPr>
            <a:lvl1pPr algn="ctr">
              <a:defRPr sz="24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1pPr>
            <a:lvl2pPr algn="ctr">
              <a:defRPr sz="24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2pPr>
            <a:lvl3pPr algn="ctr">
              <a:defRPr sz="24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3pPr>
            <a:lvl4pPr algn="ctr">
              <a:defRPr sz="24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4pPr>
            <a:lvl5pPr algn="ctr">
              <a:defRPr sz="24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5pPr>
            <a:lvl6pPr algn="ctr">
              <a:defRPr sz="24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6pPr>
            <a:lvl7pPr algn="ctr">
              <a:defRPr sz="24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7pPr>
            <a:lvl8pPr algn="ctr">
              <a:defRPr sz="24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8pPr>
            <a:lvl9pPr algn="ctr">
              <a:defRPr sz="24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ctr">
              <a:defRPr sz="24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4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rPr>
              <a:t>ノイズ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53BE23-128F-4E47-AC37-4C54019B2B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cb49941a6a4f15"/>
          <a:stretch xmlns:a="http://schemas.openxmlformats.org/drawingml/2006/main"/>
        </p:blipFill>
        <p:spPr>
          <a:xfrm xmlns:a="http://schemas.openxmlformats.org/drawingml/2006/main">
            <a:off x="4810125" y="2600325"/>
            <a:ext cx="2428875" cy="2428875"/>
          </a:xfrm>
          <a:prstGeom xmlns:a="http://schemas.openxmlformats.org/drawingml/2006/main" prst="rect">
            <a:avLst/>
          </a:prstGeom>
        </p:spPr>
      </p:pic>
      <p:sp>
        <p:nvSpPr>
          <p:cNvPr id="6" name="label-1">
            <a:extLst xmlns:a="http://schemas.openxmlformats.org/drawingml/2006/main">
              <a:ext uri="{FF2B5EF4-FFF2-40B4-BE49-F238E27FC236}">
                <a16:creationId xmlns:a16="http://schemas.microsoft.com/office/drawing/2014/main" id="{9E4504DB-42E0-495F-B2D4-2A2E8D3E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2387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defPPr>
            <a:lvl1pPr algn="ctr">
              <a:defRPr sz="24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1pPr>
            <a:lvl2pPr algn="ctr">
              <a:defRPr sz="24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2pPr>
            <a:lvl3pPr algn="ctr">
              <a:defRPr sz="24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3pPr>
            <a:lvl4pPr algn="ctr">
              <a:defRPr sz="24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4pPr>
            <a:lvl5pPr algn="ctr">
              <a:defRPr sz="24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5pPr>
            <a:lvl6pPr algn="ctr">
              <a:defRPr sz="24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6pPr>
            <a:lvl7pPr algn="ctr">
              <a:defRPr sz="24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7pPr>
            <a:lvl8pPr algn="ctr">
              <a:defRPr sz="24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8pPr>
            <a:lvl9pPr algn="ctr">
              <a:defRPr sz="24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ctr">
              <a:defRPr sz="24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4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rPr>
              <a:t>半分ずつ混ぜた画像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E68E0-AC6F-4C28-8037-6E9F9F75F7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1e7f0d4a78460c"/>
          <a:stretch xmlns:a="http://schemas.openxmlformats.org/drawingml/2006/main"/>
        </p:blipFill>
        <p:spPr>
          <a:xfrm xmlns:a="http://schemas.openxmlformats.org/drawingml/2006/main">
            <a:off x="8620125" y="2600325"/>
            <a:ext cx="2428875" cy="2428875"/>
          </a:xfrm>
          <a:prstGeom xmlns:a="http://schemas.openxmlformats.org/drawingml/2006/main" prst="rect">
            <a:avLst/>
          </a:prstGeom>
        </p:spPr>
      </p:pic>
      <p:sp>
        <p:nvSpPr>
          <p:cNvPr id="8" name="label-2">
            <a:extLst xmlns:a="http://schemas.openxmlformats.org/drawingml/2006/main">
              <a:ext uri="{FF2B5EF4-FFF2-40B4-BE49-F238E27FC236}">
                <a16:creationId xmlns:a16="http://schemas.microsoft.com/office/drawing/2014/main" id="{238ADFBA-1CAE-469F-9240-AC7138BB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2387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defPPr>
            <a:lvl1pPr algn="ctr">
              <a:defRPr sz="24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1pPr>
            <a:lvl2pPr algn="ctr">
              <a:defRPr sz="24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2pPr>
            <a:lvl3pPr algn="ctr">
              <a:defRPr sz="24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3pPr>
            <a:lvl4pPr algn="ctr">
              <a:defRPr sz="24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4pPr>
            <a:lvl5pPr algn="ctr">
              <a:defRPr sz="24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5pPr>
            <a:lvl6pPr algn="ctr">
              <a:defRPr sz="24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6pPr>
            <a:lvl7pPr algn="ctr">
              <a:defRPr sz="24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7pPr>
            <a:lvl8pPr algn="ctr">
              <a:defRPr sz="24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8pPr>
            <a:lvl9pPr algn="ctr">
              <a:defRPr sz="24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ctr">
              <a:defRPr sz="24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4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rPr>
              <a:t>本物の数字</a:t>
            </a:r>
          </a:p>
        </p:txBody>
      </p:sp>
      <p:sp>
        <p:nvSpPr>
          <p:cNvPr id="9" name="bridge">
            <a:extLst xmlns:a="http://schemas.openxmlformats.org/drawingml/2006/main">
              <a:ext uri="{FF2B5EF4-FFF2-40B4-BE49-F238E27FC236}">
                <a16:creationId xmlns:a16="http://schemas.microsoft.com/office/drawing/2014/main" id="{74C7A02F-1F6E-4A57-8C28-256178E3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defPPr>
            <a:lvl1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1pPr>
            <a:lvl2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2pPr>
            <a:lvl3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3pPr>
            <a:lvl4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4pPr>
            <a:lvl5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5pPr>
            <a:lvl6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6pPr>
            <a:lvl7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7pPr>
            <a:lvl8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8pPr>
            <a:lvl9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rPr>
              <a:t>この混ぜ方は、簡単な式で表せます。</a:t>
            </a:r>
          </a:p>
        </p:txBody>
      </p:sp>
    </p:spTree>
    <p:extLst>
      <p:ext uri="{BB962C8B-B14F-4D97-AF65-F5344CB8AC3E}">
        <p14:creationId xmlns:p14="http://schemas.microsoft.com/office/powerpoint/2010/main" val="1419103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E129F206-D11E-4CA4-BE1F-2B9686D8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defPPr>
            <a:lvl1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1pPr>
            <a:lvl2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2pPr>
            <a:lvl3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3pPr>
            <a:lvl4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4pPr>
            <a:lvl5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5pPr>
            <a:lvl6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6pPr>
            <a:lvl7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7pPr>
            <a:lvl8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8pPr>
            <a:lvl9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rPr>
              <a:t>混ぜ方を、式で書いてみる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FD93287-32F2-45EE-A3B7-00982182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defPPr>
            <a:lvl1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1pPr>
            <a:lvl2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2pPr>
            <a:lvl3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3pPr>
            <a:lvl4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4pPr>
            <a:lvl5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5pPr>
            <a:lvl6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6pPr>
            <a:lvl7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7pPr>
            <a:lvl8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8pPr>
            <a:lvl9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rPr>
              <a:t>z はノイズ、y は本物の数字、t は混ぜる割合</a:t>
            </a:r>
          </a:p>
        </p:txBody>
      </p:sp>
      <p:sp>
        <p:nvSpPr>
          <p:cNvPr id="3" name="formula">
            <a:extLst xmlns:a="http://schemas.openxmlformats.org/drawingml/2006/main">
              <a:ext uri="{FF2B5EF4-FFF2-40B4-BE49-F238E27FC236}">
                <a16:creationId xmlns:a16="http://schemas.microsoft.com/office/drawing/2014/main" id="{6CE23481-E99A-4419-8284-2998FC93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defPPr>
            <a:lvl1pPr algn="l">
              <a:defRPr sz="465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1pPr>
            <a:lvl2pPr algn="l">
              <a:defRPr sz="465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2pPr>
            <a:lvl3pPr algn="l">
              <a:defRPr sz="465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3pPr>
            <a:lvl4pPr algn="l">
              <a:defRPr sz="465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4pPr>
            <a:lvl5pPr algn="l">
              <a:defRPr sz="465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5pPr>
            <a:lvl6pPr algn="l">
              <a:defRPr sz="465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6pPr>
            <a:lvl7pPr algn="l">
              <a:defRPr sz="465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7pPr>
            <a:lvl8pPr algn="l">
              <a:defRPr sz="465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8pPr>
            <a:lvl9pPr algn="l">
              <a:defRPr sz="465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l">
              <a:defRPr sz="465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465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rPr>
              <a:t>xₜ = (1 − t)z + ty</a:t>
            </a:r>
          </a:p>
        </p:txBody>
      </p:sp>
      <p:sp>
        <p:nvSpPr>
          <p:cNvPr id="4" name="define-x">
            <a:extLst xmlns:a="http://schemas.openxmlformats.org/drawingml/2006/main">
              <a:ext uri="{FF2B5EF4-FFF2-40B4-BE49-F238E27FC236}">
                <a16:creationId xmlns:a16="http://schemas.microsoft.com/office/drawing/2014/main" id="{4F8D181F-AF07-4025-8C08-93F5DDD9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defPPr>
            <a:lvl1pPr algn="l">
              <a:defRPr sz="26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1pPr>
            <a:lvl2pPr algn="l">
              <a:defRPr sz="26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2pPr>
            <a:lvl3pPr algn="l">
              <a:defRPr sz="26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3pPr>
            <a:lvl4pPr algn="l">
              <a:defRPr sz="26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4pPr>
            <a:lvl5pPr algn="l">
              <a:defRPr sz="26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5pPr>
            <a:lvl6pPr algn="l">
              <a:defRPr sz="26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6pPr>
            <a:lvl7pPr algn="l">
              <a:defRPr sz="26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7pPr>
            <a:lvl8pPr algn="l">
              <a:defRPr sz="26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8pPr>
            <a:lvl9pPr algn="l">
              <a:defRPr sz="26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l">
              <a:defRPr sz="26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6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rPr>
              <a:t>xₜ は、途中の画像</a:t>
            </a:r>
          </a:p>
        </p:txBody>
      </p:sp>
      <p:sp>
        <p:nvSpPr>
          <p:cNvPr id="5" name="midpoint">
            <a:extLst xmlns:a="http://schemas.openxmlformats.org/drawingml/2006/main">
              <a:ext uri="{FF2B5EF4-FFF2-40B4-BE49-F238E27FC236}">
                <a16:creationId xmlns:a16="http://schemas.microsoft.com/office/drawing/2014/main" id="{439FD293-5700-4A72-A29C-191A88B2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defPPr>
            <a:lvl1pPr algn="l">
              <a:defRPr sz="29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1pPr>
            <a:lvl2pPr algn="l">
              <a:defRPr sz="29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2pPr>
            <a:lvl3pPr algn="l">
              <a:defRPr sz="29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3pPr>
            <a:lvl4pPr algn="l">
              <a:defRPr sz="29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4pPr>
            <a:lvl5pPr algn="l">
              <a:defRPr sz="29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5pPr>
            <a:lvl6pPr algn="l">
              <a:defRPr sz="29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6pPr>
            <a:lvl7pPr algn="l">
              <a:defRPr sz="29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7pPr>
            <a:lvl8pPr algn="l">
              <a:defRPr sz="29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8pPr>
            <a:lvl9pPr algn="l">
              <a:defRPr sz="29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l">
              <a:defRPr sz="29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9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rPr>
              <a:t>t = 0.5 なら、xₜ = 0.5z + 0.5y</a:t>
            </a:r>
          </a:p>
        </p:txBody>
      </p:sp>
      <p:sp>
        <p:nvSpPr>
          <p:cNvPr id="6" name="midpoint-explain">
            <a:extLst xmlns:a="http://schemas.openxmlformats.org/drawingml/2006/main">
              <a:ext uri="{FF2B5EF4-FFF2-40B4-BE49-F238E27FC236}">
                <a16:creationId xmlns:a16="http://schemas.microsoft.com/office/drawing/2014/main" id="{2CEDE16E-7F2C-4E01-B743-7EE75962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defPPr>
            <a:lvl1pPr algn="l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1pPr>
            <a:lvl2pPr algn="l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2pPr>
            <a:lvl3pPr algn="l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3pPr>
            <a:lvl4pPr algn="l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4pPr>
            <a:lvl5pPr algn="l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5pPr>
            <a:lvl6pPr algn="l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6pPr>
            <a:lvl7pPr algn="l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7pPr>
            <a:lvl8pPr algn="l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8pPr>
            <a:lvl9pPr algn="l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rPr>
              <a:t>前のページの「半分ずつ混ぜる」に対応します。</a:t>
            </a:r>
          </a:p>
        </p:txBody>
      </p:sp>
      <p:sp>
        <p:nvSpPr>
          <p:cNvPr id="7" name="bridge">
            <a:extLst xmlns:a="http://schemas.openxmlformats.org/drawingml/2006/main">
              <a:ext uri="{FF2B5EF4-FFF2-40B4-BE49-F238E27FC236}">
                <a16:creationId xmlns:a16="http://schemas.microsoft.com/office/drawing/2014/main" id="{1F3EBDF4-E2F8-4D2B-9A1E-0D401177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defPPr>
            <a:lvl1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1pPr>
            <a:lvl2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2pPr>
            <a:lvl3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3pPr>
            <a:lvl4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4pPr>
            <a:lvl5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5pPr>
            <a:lvl6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6pPr>
            <a:lvl7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7pPr>
            <a:lvl8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8pPr>
            <a:lvl9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rPr>
              <a:t>混ぜ方が分かると、正解の速さも計算できます。</a:t>
            </a:r>
          </a:p>
        </p:txBody>
      </p:sp>
    </p:spTree>
    <p:extLst>
      <p:ext uri="{BB962C8B-B14F-4D97-AF65-F5344CB8AC3E}">
        <p14:creationId xmlns:p14="http://schemas.microsoft.com/office/powerpoint/2010/main" val="13690318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8B8EFD01-17C2-497A-B133-BC625ECC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defPPr>
            <a:lvl1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1pPr>
            <a:lvl2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2pPr>
            <a:lvl3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3pPr>
            <a:lvl4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4pPr>
            <a:lvl5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5pPr>
            <a:lvl6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6pPr>
            <a:lvl7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7pPr>
            <a:lvl8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8pPr>
            <a:lvl9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rPr>
              <a:t>正解の変化を、AIに教える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68DEEB9-3F4E-4D1E-AD09-AB18BFFE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defPPr>
            <a:lvl1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1pPr>
            <a:lvl2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2pPr>
            <a:lvl3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3pPr>
            <a:lvl4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4pPr>
            <a:lvl5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5pPr>
            <a:lvl6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6pPr>
            <a:lvl7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7pPr>
            <a:lvl8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8pPr>
            <a:lvl9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rPr>
              <a:t>t を0から1まで進めると、画像は y − z だけ変わる</a:t>
            </a:r>
          </a:p>
        </p:txBody>
      </p:sp>
      <p:sp>
        <p:nvSpPr>
          <p:cNvPr id="3" name="target">
            <a:extLst xmlns:a="http://schemas.openxmlformats.org/drawingml/2006/main">
              <a:ext uri="{FF2B5EF4-FFF2-40B4-BE49-F238E27FC236}">
                <a16:creationId xmlns:a16="http://schemas.microsoft.com/office/drawing/2014/main" id="{29CFB4C4-E230-4A39-A4B6-484E2FFF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1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defPPr>
            <a:lvl1pPr algn="l">
              <a:defRPr sz="41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1pPr>
            <a:lvl2pPr algn="l">
              <a:defRPr sz="41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2pPr>
            <a:lvl3pPr algn="l">
              <a:defRPr sz="41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3pPr>
            <a:lvl4pPr algn="l">
              <a:defRPr sz="41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4pPr>
            <a:lvl5pPr algn="l">
              <a:defRPr sz="41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5pPr>
            <a:lvl6pPr algn="l">
              <a:defRPr sz="41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6pPr>
            <a:lvl7pPr algn="l">
              <a:defRPr sz="41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7pPr>
            <a:lvl8pPr algn="l">
              <a:defRPr sz="41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8pPr>
            <a:lvl9pPr algn="l">
              <a:defRPr sz="41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l">
              <a:defRPr sz="41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41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rPr>
              <a:t>正解の速さ  u = y − z</a:t>
            </a:r>
          </a:p>
        </p:txBody>
      </p:sp>
      <p:sp>
        <p:nvSpPr>
          <p:cNvPr id="4" name="constant">
            <a:extLst xmlns:a="http://schemas.openxmlformats.org/drawingml/2006/main">
              <a:ext uri="{FF2B5EF4-FFF2-40B4-BE49-F238E27FC236}">
                <a16:creationId xmlns:a16="http://schemas.microsoft.com/office/drawing/2014/main" id="{75B6D99C-8003-47A3-940D-1E60BD51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defPPr>
            <a:lvl1pPr algn="l">
              <a:defRPr sz="26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1pPr>
            <a:lvl2pPr algn="l">
              <a:defRPr sz="26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2pPr>
            <a:lvl3pPr algn="l">
              <a:defRPr sz="26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3pPr>
            <a:lvl4pPr algn="l">
              <a:defRPr sz="26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4pPr>
            <a:lvl5pPr algn="l">
              <a:defRPr sz="26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5pPr>
            <a:lvl6pPr algn="l">
              <a:defRPr sz="26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6pPr>
            <a:lvl7pPr algn="l">
              <a:defRPr sz="26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7pPr>
            <a:lvl8pPr algn="l">
              <a:defRPr sz="26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8pPr>
            <a:lvl9pPr algn="l">
              <a:defRPr sz="26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l">
              <a:defRPr sz="26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6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rPr>
              <a:t>直線で混ぜるので、変化の速さは一定です。</a:t>
            </a:r>
          </a:p>
        </p:txBody>
      </p:sp>
      <p:sp>
        <p:nvSpPr>
          <p:cNvPr id="5" name="learning">
            <a:extLst xmlns:a="http://schemas.openxmlformats.org/drawingml/2006/main">
              <a:ext uri="{FF2B5EF4-FFF2-40B4-BE49-F238E27FC236}">
                <a16:creationId xmlns:a16="http://schemas.microsoft.com/office/drawing/2014/main" id="{0756CEA7-9F42-49A6-99C4-F1914756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532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defPPr>
            <a:lvl1pPr algn="l">
              <a:defRPr sz="27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1pPr>
            <a:lvl2pPr algn="l">
              <a:defRPr sz="27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2pPr>
            <a:lvl3pPr algn="l">
              <a:defRPr sz="27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3pPr>
            <a:lvl4pPr algn="l">
              <a:defRPr sz="27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4pPr>
            <a:lvl5pPr algn="l">
              <a:defRPr sz="27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5pPr>
            <a:lvl6pPr algn="l">
              <a:defRPr sz="27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6pPr>
            <a:lvl7pPr algn="l">
              <a:defRPr sz="27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7pPr>
            <a:lvl8pPr algn="l">
              <a:defRPr sz="27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8pPr>
            <a:lvl9pPr algn="l">
              <a:defRPr sz="27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7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rPr>
              <a:t>AIの予測と、この正解を比べる。</a:t>
            </a:r>
          </a:p>
          <a:p xmlns:a="http://schemas.openxmlformats.org/drawingml/2006/main">
            <a:pPr algn="l">
              <a:defRPr sz="27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700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rPr>
              <a:t>ずれが小さくなるように、重みを調整する。</a:t>
            </a:r>
          </a:p>
        </p:txBody>
      </p:sp>
      <p:sp>
        <p:nvSpPr>
          <p:cNvPr id="6" name="bridge">
            <a:extLst xmlns:a="http://schemas.openxmlformats.org/drawingml/2006/main">
              <a:ext uri="{FF2B5EF4-FFF2-40B4-BE49-F238E27FC236}">
                <a16:creationId xmlns:a16="http://schemas.microsoft.com/office/drawing/2014/main" id="{1A21F027-2505-4434-8972-B89CB32A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defPPr>
            <a:lvl1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1pPr>
            <a:lvl2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2pPr>
            <a:lvl3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3pPr>
            <a:lvl4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4pPr>
            <a:lvl5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5pPr>
            <a:lvl6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6pPr>
            <a:lvl7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7pPr>
            <a:lvl8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8pPr>
            <a:lvl9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rPr>
              <a:t>いろいろな数字とノイズで、この練習を繰り返します。</a:t>
            </a:r>
          </a:p>
        </p:txBody>
      </p:sp>
    </p:spTree>
    <p:extLst>
      <p:ext uri="{BB962C8B-B14F-4D97-AF65-F5344CB8AC3E}">
        <p14:creationId xmlns:p14="http://schemas.microsoft.com/office/powerpoint/2010/main" val="18774009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46F9C62E-F249-41C7-AAD0-BA98C8BA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defPPr>
            <a:lvl1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1pPr>
            <a:lvl2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2pPr>
            <a:lvl3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3pPr>
            <a:lvl4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4pPr>
            <a:lvl5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5pPr>
            <a:lvl6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6pPr>
            <a:lvl7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7pPr>
            <a:lvl8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8pPr>
            <a:lvl9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rPr>
              <a:t>たくさんの例で、同じAIを練習させる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33CD9F1-98E5-428A-9648-A5FE07C0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defPPr>
            <a:lvl1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1pPr>
            <a:lvl2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2pPr>
            <a:lvl3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3pPr>
            <a:lvl4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4pPr>
            <a:lvl5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5pPr>
            <a:lvl6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6pPr>
            <a:lvl7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7pPr>
            <a:lvl8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8pPr>
            <a:lvl9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rPr>
              <a:t>毎回、数字・ノイズ・途中の時刻を変える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A044FC-36B2-481F-8027-F8F550CF0F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9b471ae0ba4884"/>
          <a:stretch xmlns:a="http://schemas.openxmlformats.org/drawingml/2006/main"/>
        </p:blipFill>
        <p:spPr>
          <a:xfrm xmlns:a="http://schemas.openxmlformats.org/drawingml/2006/main">
            <a:off x="933450" y="2590800"/>
            <a:ext cx="1381125" cy="1381125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ED6DF0-27A3-45F3-B885-619D7118DE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4df595048941fc"/>
          <a:stretch xmlns:a="http://schemas.openxmlformats.org/drawingml/2006/main"/>
        </p:blipFill>
        <p:spPr>
          <a:xfrm xmlns:a="http://schemas.openxmlformats.org/drawingml/2006/main">
            <a:off x="2714625" y="2590800"/>
            <a:ext cx="1381125" cy="138112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27E6F6-A02D-4BCB-8AAE-F407FF5B7E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0e03855a9144ed"/>
          <a:stretch xmlns:a="http://schemas.openxmlformats.org/drawingml/2006/main"/>
        </p:blipFill>
        <p:spPr>
          <a:xfrm xmlns:a="http://schemas.openxmlformats.org/drawingml/2006/main">
            <a:off x="4495800" y="2590800"/>
            <a:ext cx="1381125" cy="138112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A601A6-86E7-4B35-A51A-4E126D1258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708cd93f9d4358"/>
          <a:stretch xmlns:a="http://schemas.openxmlformats.org/drawingml/2006/main"/>
        </p:blipFill>
        <p:spPr>
          <a:xfrm xmlns:a="http://schemas.openxmlformats.org/drawingml/2006/main">
            <a:off x="6276975" y="2590800"/>
            <a:ext cx="1381125" cy="1381125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087DDD-83B6-4B82-983B-F3DA40EB1E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142796f3434f8c"/>
          <a:stretch xmlns:a="http://schemas.openxmlformats.org/drawingml/2006/main"/>
        </p:blipFill>
        <p:spPr>
          <a:xfrm xmlns:a="http://schemas.openxmlformats.org/drawingml/2006/main">
            <a:off x="8058150" y="2590800"/>
            <a:ext cx="1381125" cy="1381125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60C604-B123-4634-AF60-8330AF7586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94f2c899814fe5"/>
          <a:stretch xmlns:a="http://schemas.openxmlformats.org/drawingml/2006/main"/>
        </p:blipFill>
        <p:spPr>
          <a:xfrm xmlns:a="http://schemas.openxmlformats.org/drawingml/2006/main">
            <a:off x="9839325" y="2590800"/>
            <a:ext cx="1381125" cy="1381125"/>
          </a:xfrm>
          <a:prstGeom xmlns:a="http://schemas.openxmlformats.org/drawingml/2006/main" prst="rect">
            <a:avLst/>
          </a:prstGeom>
        </p:spPr>
      </p:pic>
      <p:sp>
        <p:nvSpPr>
          <p:cNvPr id="9" name="training-message">
            <a:extLst xmlns:a="http://schemas.openxmlformats.org/drawingml/2006/main">
              <a:ext uri="{FF2B5EF4-FFF2-40B4-BE49-F238E27FC236}">
                <a16:creationId xmlns:a16="http://schemas.microsoft.com/office/drawing/2014/main" id="{ED2016D7-DC1A-4CC0-B113-C8C3AA64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defPPr>
            <a:lvl1pPr algn="l">
              <a:defRPr sz="29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1pPr>
            <a:lvl2pPr algn="l">
              <a:defRPr sz="29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2pPr>
            <a:lvl3pPr algn="l">
              <a:defRPr sz="29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3pPr>
            <a:lvl4pPr algn="l">
              <a:defRPr sz="29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4pPr>
            <a:lvl5pPr algn="l">
              <a:defRPr sz="29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5pPr>
            <a:lvl6pPr algn="l">
              <a:defRPr sz="29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6pPr>
            <a:lvl7pPr algn="l">
              <a:defRPr sz="29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7pPr>
            <a:lvl8pPr algn="l">
              <a:defRPr sz="29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8pPr>
            <a:lvl9pPr algn="l">
              <a:defRPr sz="29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l">
              <a:defRPr sz="29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9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rPr>
              <a:t>途中の画像を見たときに、</a:t>
            </a:r>
          </a:p>
          <a:p xmlns:a="http://schemas.openxmlformats.org/drawingml/2006/main">
            <a:pPr algn="l">
              <a:defRPr sz="29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9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rPr>
              <a:t>どんな変え方がよいかを学習する。</a:t>
            </a:r>
          </a:p>
        </p:txBody>
      </p:sp>
      <p:sp>
        <p:nvSpPr>
          <p:cNvPr id="10" name="bridge">
            <a:extLst xmlns:a="http://schemas.openxmlformats.org/drawingml/2006/main">
              <a:ext uri="{FF2B5EF4-FFF2-40B4-BE49-F238E27FC236}">
                <a16:creationId xmlns:a16="http://schemas.microsoft.com/office/drawing/2014/main" id="{1DDC8D3B-F746-4DE1-AB40-EF6D74E4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defPPr>
            <a:lvl1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1pPr>
            <a:lvl2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2pPr>
            <a:lvl3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3pPr>
            <a:lvl4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4pPr>
            <a:lvl5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5pPr>
            <a:lvl6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6pPr>
            <a:lvl7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7pPr>
            <a:lvl8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8pPr>
            <a:lvl9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rPr>
              <a:t>学習が終わったら、新しいノイズから生成します。</a:t>
            </a:r>
          </a:p>
        </p:txBody>
      </p:sp>
    </p:spTree>
    <p:extLst>
      <p:ext uri="{BB962C8B-B14F-4D97-AF65-F5344CB8AC3E}">
        <p14:creationId xmlns:p14="http://schemas.microsoft.com/office/powerpoint/2010/main" val="4364590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F1D59A66-C6C1-4A62-8E62-848D7F23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defPPr>
            <a:lvl1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1pPr>
            <a:lvl2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2pPr>
            <a:lvl3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3pPr>
            <a:lvl4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4pPr>
            <a:lvl5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5pPr>
            <a:lvl6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6pPr>
            <a:lvl7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7pPr>
            <a:lvl8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8pPr>
            <a:lvl9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rPr>
              <a:t>生成では、本物の数字を渡さない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C01C48B-263B-4E31-8145-52533FFC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defPPr>
            <a:lvl1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1pPr>
            <a:lvl2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2pPr>
            <a:lvl3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3pPr>
            <a:lvl4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4pPr>
            <a:lvl5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5pPr>
            <a:lvl6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6pPr>
            <a:lvl7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7pPr>
            <a:lvl8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8pPr>
            <a:lvl9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rPr>
              <a:t>今の画像と時刻だけで、予測と更新を繰り返す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91F14D-B8F2-44D7-89E1-B8F5033122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f0e8fdbd514196"/>
          <a:stretch xmlns:a="http://schemas.openxmlformats.org/drawingml/2006/main"/>
        </p:blipFill>
        <p:spPr>
          <a:xfrm xmlns:a="http://schemas.openxmlformats.org/drawingml/2006/main">
            <a:off x="685800" y="2952750"/>
            <a:ext cx="1905000" cy="1905000"/>
          </a:xfrm>
          <a:prstGeom xmlns:a="http://schemas.openxmlformats.org/drawingml/2006/main" prst="rect">
            <a:avLst/>
          </a:prstGeom>
        </p:spPr>
      </p:pic>
      <p:sp>
        <p:nvSpPr>
          <p:cNvPr id="4" name="time-0">
            <a:extLst xmlns:a="http://schemas.openxmlformats.org/drawingml/2006/main">
              <a:ext uri="{FF2B5EF4-FFF2-40B4-BE49-F238E27FC236}">
                <a16:creationId xmlns:a16="http://schemas.microsoft.com/office/drawing/2014/main" id="{3B74F613-C1F4-4957-96A6-E0D5D028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defPPr>
            <a:lvl1pPr algn="ctr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1pPr>
            <a:lvl2pPr algn="ctr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2pPr>
            <a:lvl3pPr algn="ctr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3pPr>
            <a:lvl4pPr algn="ctr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4pPr>
            <a:lvl5pPr algn="ctr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5pPr>
            <a:lvl6pPr algn="ctr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6pPr>
            <a:lvl7pPr algn="ctr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7pPr>
            <a:lvl8pPr algn="ctr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8pPr>
            <a:lvl9pPr algn="ctr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rPr>
              <a:t>開始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6E9709-3917-464C-9B47-ADCDB090DF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cb3ec905594e93"/>
          <a:stretch xmlns:a="http://schemas.openxmlformats.org/drawingml/2006/main"/>
        </p:blipFill>
        <p:spPr>
          <a:xfrm xmlns:a="http://schemas.openxmlformats.org/drawingml/2006/main">
            <a:off x="2914650" y="2952750"/>
            <a:ext cx="1905000" cy="1905000"/>
          </a:xfrm>
          <a:prstGeom xmlns:a="http://schemas.openxmlformats.org/drawingml/2006/main" prst="rect">
            <a:avLst/>
          </a:prstGeom>
        </p:spPr>
      </p:pic>
      <p:sp>
        <p:nvSpPr>
          <p:cNvPr id="6" name="time-1">
            <a:extLst xmlns:a="http://schemas.openxmlformats.org/drawingml/2006/main">
              <a:ext uri="{FF2B5EF4-FFF2-40B4-BE49-F238E27FC236}">
                <a16:creationId xmlns:a16="http://schemas.microsoft.com/office/drawing/2014/main" id="{97178C17-EC6A-4AB6-A0D3-8F13995A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09587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defPPr>
            <a:lvl1pPr algn="ctr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1pPr>
            <a:lvl2pPr algn="ctr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2pPr>
            <a:lvl3pPr algn="ctr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3pPr>
            <a:lvl4pPr algn="ctr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4pPr>
            <a:lvl5pPr algn="ctr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5pPr>
            <a:lvl6pPr algn="ctr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6pPr>
            <a:lvl7pPr algn="ctr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7pPr>
            <a:lvl8pPr algn="ctr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8pPr>
            <a:lvl9pPr algn="ctr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rPr>
              <a:t>10回後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BC9723-28D1-4F58-93E9-5E3142EBF5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49276c316a4940"/>
          <a:stretch xmlns:a="http://schemas.openxmlformats.org/drawingml/2006/main"/>
        </p:blipFill>
        <p:spPr>
          <a:xfrm xmlns:a="http://schemas.openxmlformats.org/drawingml/2006/main">
            <a:off x="5143500" y="2952750"/>
            <a:ext cx="1905000" cy="1905000"/>
          </a:xfrm>
          <a:prstGeom xmlns:a="http://schemas.openxmlformats.org/drawingml/2006/main" prst="rect">
            <a:avLst/>
          </a:prstGeom>
        </p:spPr>
      </p:pic>
      <p:sp>
        <p:nvSpPr>
          <p:cNvPr id="8" name="time-2">
            <a:extLst xmlns:a="http://schemas.openxmlformats.org/drawingml/2006/main">
              <a:ext uri="{FF2B5EF4-FFF2-40B4-BE49-F238E27FC236}">
                <a16:creationId xmlns:a16="http://schemas.microsoft.com/office/drawing/2014/main" id="{70FCA62F-DC3C-4EA3-B089-AC5B359D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09587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defPPr>
            <a:lvl1pPr algn="ctr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1pPr>
            <a:lvl2pPr algn="ctr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2pPr>
            <a:lvl3pPr algn="ctr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3pPr>
            <a:lvl4pPr algn="ctr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4pPr>
            <a:lvl5pPr algn="ctr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5pPr>
            <a:lvl6pPr algn="ctr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6pPr>
            <a:lvl7pPr algn="ctr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7pPr>
            <a:lvl8pPr algn="ctr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8pPr>
            <a:lvl9pPr algn="ctr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rPr>
              <a:t>20回後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3F4CAA-2DB2-4A83-95A9-D6C45090DB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ff89edf3fd4b94"/>
          <a:stretch xmlns:a="http://schemas.openxmlformats.org/drawingml/2006/main"/>
        </p:blipFill>
        <p:spPr>
          <a:xfrm xmlns:a="http://schemas.openxmlformats.org/drawingml/2006/main">
            <a:off x="7372350" y="2952750"/>
            <a:ext cx="1905000" cy="1905000"/>
          </a:xfrm>
          <a:prstGeom xmlns:a="http://schemas.openxmlformats.org/drawingml/2006/main" prst="rect">
            <a:avLst/>
          </a:prstGeom>
        </p:spPr>
      </p:pic>
      <p:sp>
        <p:nvSpPr>
          <p:cNvPr id="10" name="time-3">
            <a:extLst xmlns:a="http://schemas.openxmlformats.org/drawingml/2006/main">
              <a:ext uri="{FF2B5EF4-FFF2-40B4-BE49-F238E27FC236}">
                <a16:creationId xmlns:a16="http://schemas.microsoft.com/office/drawing/2014/main" id="{5E248C3C-78C2-467B-B806-CF0F4DCF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09587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defPPr>
            <a:lvl1pPr algn="ctr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1pPr>
            <a:lvl2pPr algn="ctr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2pPr>
            <a:lvl3pPr algn="ctr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3pPr>
            <a:lvl4pPr algn="ctr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4pPr>
            <a:lvl5pPr algn="ctr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5pPr>
            <a:lvl6pPr algn="ctr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6pPr>
            <a:lvl7pPr algn="ctr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7pPr>
            <a:lvl8pPr algn="ctr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8pPr>
            <a:lvl9pPr algn="ctr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rPr>
              <a:t>35回後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C53A7D-7B5A-4371-BC02-D155B0436F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f8782c25e44755"/>
          <a:stretch xmlns:a="http://schemas.openxmlformats.org/drawingml/2006/main"/>
        </p:blipFill>
        <p:spPr>
          <a:xfrm xmlns:a="http://schemas.openxmlformats.org/drawingml/2006/main">
            <a:off x="9601200" y="2952750"/>
            <a:ext cx="1905000" cy="1905000"/>
          </a:xfrm>
          <a:prstGeom xmlns:a="http://schemas.openxmlformats.org/drawingml/2006/main" prst="rect">
            <a:avLst/>
          </a:prstGeom>
        </p:spPr>
      </p:pic>
      <p:sp>
        <p:nvSpPr>
          <p:cNvPr id="12" name="time-4">
            <a:extLst xmlns:a="http://schemas.openxmlformats.org/drawingml/2006/main">
              <a:ext uri="{FF2B5EF4-FFF2-40B4-BE49-F238E27FC236}">
                <a16:creationId xmlns:a16="http://schemas.microsoft.com/office/drawing/2014/main" id="{B0EB57F9-F98F-4137-98F4-D96DE72B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09587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defPPr>
            <a:lvl1pPr algn="ctr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1pPr>
            <a:lvl2pPr algn="ctr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2pPr>
            <a:lvl3pPr algn="ctr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3pPr>
            <a:lvl4pPr algn="ctr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4pPr>
            <a:lvl5pPr algn="ctr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5pPr>
            <a:lvl6pPr algn="ctr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6pPr>
            <a:lvl7pPr algn="ctr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7pPr>
            <a:lvl8pPr algn="ctr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8pPr>
            <a:lvl9pPr algn="ctr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rPr>
              <a:t>50回後</a:t>
            </a:r>
          </a:p>
        </p:txBody>
      </p:sp>
      <p:sp>
        <p:nvSpPr>
          <p:cNvPr id="13" name="bridge">
            <a:extLst xmlns:a="http://schemas.openxmlformats.org/drawingml/2006/main">
              <a:ext uri="{FF2B5EF4-FFF2-40B4-BE49-F238E27FC236}">
                <a16:creationId xmlns:a16="http://schemas.microsoft.com/office/drawing/2014/main" id="{29716FB5-4FF1-499E-B692-AC558474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defPPr>
            <a:lvl1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1pPr>
            <a:lvl2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2pPr>
            <a:lvl3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3pPr>
            <a:lvl4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4pPr>
            <a:lvl5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5pPr>
            <a:lvl6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6pPr>
            <a:lvl7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7pPr>
            <a:lvl8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8pPr>
            <a:lvl9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rPr>
              <a:t>1回の更新は、次のような小さな足し算です。</a:t>
            </a:r>
          </a:p>
        </p:txBody>
      </p:sp>
    </p:spTree>
    <p:extLst>
      <p:ext uri="{BB962C8B-B14F-4D97-AF65-F5344CB8AC3E}">
        <p14:creationId xmlns:p14="http://schemas.microsoft.com/office/powerpoint/2010/main" val="2094274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E9CECF3A-22C3-427D-B82E-B84BA4DA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defPPr>
            <a:lvl1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1pPr>
            <a:lvl2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2pPr>
            <a:lvl3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3pPr>
            <a:lvl4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4pPr>
            <a:lvl5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5pPr>
            <a:lvl6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6pPr>
            <a:lvl7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7pPr>
            <a:lvl8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8pPr>
            <a:lvl9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rPr>
              <a:t>1回の更新は、小さな足し算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972314C-6028-44C0-8663-95954753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defPPr>
            <a:lvl1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1pPr>
            <a:lvl2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2pPr>
            <a:lvl3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3pPr>
            <a:lvl4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4pPr>
            <a:lvl5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5pPr>
            <a:lvl6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6pPr>
            <a:lvl7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7pPr>
            <a:lvl8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8pPr>
            <a:lvl9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rPr>
              <a:t>今の画像に「短い時間 × 予測した速さ」を足す</a:t>
            </a:r>
          </a:p>
        </p:txBody>
      </p:sp>
      <p:sp>
        <p:nvSpPr>
          <p:cNvPr id="3" name="verbal-equation">
            <a:extLst xmlns:a="http://schemas.openxmlformats.org/drawingml/2006/main">
              <a:ext uri="{FF2B5EF4-FFF2-40B4-BE49-F238E27FC236}">
                <a16:creationId xmlns:a16="http://schemas.microsoft.com/office/drawing/2014/main" id="{4228D517-0BB6-4DC5-8549-50412E1B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defPPr>
            <a:lvl1pPr algn="l">
              <a:defRPr sz="32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1pPr>
            <a:lvl2pPr algn="l">
              <a:defRPr sz="32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2pPr>
            <a:lvl3pPr algn="l">
              <a:defRPr sz="32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3pPr>
            <a:lvl4pPr algn="l">
              <a:defRPr sz="32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4pPr>
            <a:lvl5pPr algn="l">
              <a:defRPr sz="32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5pPr>
            <a:lvl6pPr algn="l">
              <a:defRPr sz="32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6pPr>
            <a:lvl7pPr algn="l">
              <a:defRPr sz="32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7pPr>
            <a:lvl8pPr algn="l">
              <a:defRPr sz="32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8pPr>
            <a:lvl9pPr algn="l">
              <a:defRPr sz="32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2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rPr>
              <a:t>次の画像 ＝ 今の画像 ＋ 小さな変化</a:t>
            </a:r>
          </a:p>
        </p:txBody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FF32F82D-23E9-40D8-A02F-D3DB0FFC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defPPr>
            <a:lvl1pPr algn="l">
              <a:defRPr sz="35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1pPr>
            <a:lvl2pPr algn="l">
              <a:defRPr sz="35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2pPr>
            <a:lvl3pPr algn="l">
              <a:defRPr sz="35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3pPr>
            <a:lvl4pPr algn="l">
              <a:defRPr sz="35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4pPr>
            <a:lvl5pPr algn="l">
              <a:defRPr sz="35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5pPr>
            <a:lvl6pPr algn="l">
              <a:defRPr sz="35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6pPr>
            <a:lvl7pPr algn="l">
              <a:defRPr sz="35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7pPr>
            <a:lvl8pPr algn="l">
              <a:defRPr sz="35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8pPr>
            <a:lvl9pPr algn="l">
              <a:defRPr sz="35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l">
              <a:defRPr sz="35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5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rPr>
              <a:t>xₖ₊₁ = xₖ + Δt × v(xₖ, tₖ)</a:t>
            </a:r>
          </a:p>
        </p:txBody>
      </p:sp>
      <p:sp>
        <p:nvSpPr>
          <p:cNvPr id="5" name="symbols">
            <a:extLst xmlns:a="http://schemas.openxmlformats.org/drawingml/2006/main">
              <a:ext uri="{FF2B5EF4-FFF2-40B4-BE49-F238E27FC236}">
                <a16:creationId xmlns:a16="http://schemas.microsoft.com/office/drawing/2014/main" id="{23CB5DC3-E776-4178-A7D8-5BF87279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defPPr>
            <a:lvl1pPr algn="l">
              <a:defRPr sz="195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1pPr>
            <a:lvl2pPr algn="l">
              <a:defRPr sz="195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2pPr>
            <a:lvl3pPr algn="l">
              <a:defRPr sz="195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3pPr>
            <a:lvl4pPr algn="l">
              <a:defRPr sz="195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4pPr>
            <a:lvl5pPr algn="l">
              <a:defRPr sz="195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5pPr>
            <a:lvl6pPr algn="l">
              <a:defRPr sz="195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6pPr>
            <a:lvl7pPr algn="l">
              <a:defRPr sz="195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7pPr>
            <a:lvl8pPr algn="l">
              <a:defRPr sz="195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8pPr>
            <a:lvl9pPr algn="l">
              <a:defRPr sz="195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rPr>
              <a:t>xₖ：今の画像　xₖ₊₁：次の画像　v：予測した速さ　Δt：進む時間</a:t>
            </a:r>
          </a:p>
        </p:txBody>
      </p:sp>
      <p:sp>
        <p:nvSpPr>
          <p:cNvPr id="6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64794E5B-6D18-4241-B941-160D0719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defPPr>
            <a:lvl1pPr algn="l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1pPr>
            <a:lvl2pPr algn="l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2pPr>
            <a:lvl3pPr algn="l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3pPr>
            <a:lvl4pPr algn="l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4pPr>
            <a:lvl5pPr algn="l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5pPr>
            <a:lvl6pPr algn="l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6pPr>
            <a:lvl7pPr algn="l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7pPr>
            <a:lvl8pPr algn="l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8pPr>
            <a:lvl9pPr algn="l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325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rPr>
              <a:t>1画素だけの計算例</a:t>
            </a:r>
          </a:p>
        </p:txBody>
      </p:sp>
      <p:sp>
        <p:nvSpPr>
          <p:cNvPr id="7" name="example">
            <a:extLst xmlns:a="http://schemas.openxmlformats.org/drawingml/2006/main">
              <a:ext uri="{FF2B5EF4-FFF2-40B4-BE49-F238E27FC236}">
                <a16:creationId xmlns:a16="http://schemas.microsoft.com/office/drawing/2014/main" id="{F67AF0E4-7A3F-4E71-A94E-5A233EDD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defPPr>
            <a:lvl1pPr algn="l">
              <a:defRPr sz="33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1pPr>
            <a:lvl2pPr algn="l">
              <a:defRPr sz="33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2pPr>
            <a:lvl3pPr algn="l">
              <a:defRPr sz="33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3pPr>
            <a:lvl4pPr algn="l">
              <a:defRPr sz="33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4pPr>
            <a:lvl5pPr algn="l">
              <a:defRPr sz="33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5pPr>
            <a:lvl6pPr algn="l">
              <a:defRPr sz="33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6pPr>
            <a:lvl7pPr algn="l">
              <a:defRPr sz="33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7pPr>
            <a:lvl8pPr algn="l">
              <a:defRPr sz="33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8pPr>
            <a:lvl9pPr algn="l">
              <a:defRPr sz="33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3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rPr>
              <a:t>0.20 + 0.10 × (−0.50) = 0.15</a:t>
            </a:r>
          </a:p>
        </p:txBody>
      </p:sp>
      <p:sp>
        <p:nvSpPr>
          <p:cNvPr id="8" name="bridge">
            <a:extLst xmlns:a="http://schemas.openxmlformats.org/drawingml/2006/main">
              <a:ext uri="{FF2B5EF4-FFF2-40B4-BE49-F238E27FC236}">
                <a16:creationId xmlns:a16="http://schemas.microsoft.com/office/drawing/2014/main" id="{32881CCA-14DC-4A45-9CEF-4484012F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defPPr>
            <a:lvl1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1pPr>
            <a:lvl2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2pPr>
            <a:lvl3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3pPr>
            <a:lvl4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4pPr>
            <a:lvl5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5pPr>
            <a:lvl6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6pPr>
            <a:lvl7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7pPr>
            <a:lvl8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8pPr>
            <a:lvl9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rPr>
              <a:t>全784画素で繰り返す。この計算がオイラー法です。</a:t>
            </a:r>
          </a:p>
        </p:txBody>
      </p:sp>
    </p:spTree>
    <p:extLst>
      <p:ext uri="{BB962C8B-B14F-4D97-AF65-F5344CB8AC3E}">
        <p14:creationId xmlns:p14="http://schemas.microsoft.com/office/powerpoint/2010/main" val="7114297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EFEC688B-7262-4A0F-A75A-82CEE6F9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defPPr>
            <a:lvl1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1pPr>
            <a:lvl2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2pPr>
            <a:lvl3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3pPr>
            <a:lvl4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4pPr>
            <a:lvl5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5pPr>
            <a:lvl6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6pPr>
            <a:lvl7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7pPr>
            <a:lvl8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8pPr>
            <a:lvl9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rPr>
              <a:t>学習と生成を、つなげて見る</a:t>
            </a:r>
          </a:p>
        </p:txBody>
      </p:sp>
      <p:sp>
        <p:nvSpPr>
          <p:cNvPr id="2" name="train-head">
            <a:extLst xmlns:a="http://schemas.openxmlformats.org/drawingml/2006/main">
              <a:ext uri="{FF2B5EF4-FFF2-40B4-BE49-F238E27FC236}">
                <a16:creationId xmlns:a16="http://schemas.microsoft.com/office/drawing/2014/main" id="{F5B14488-BFF9-4B60-A032-E8581028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defPPr>
            <a:lvl1pPr algn="l">
              <a:defRPr sz="307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1pPr>
            <a:lvl2pPr algn="l">
              <a:defRPr sz="307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2pPr>
            <a:lvl3pPr algn="l">
              <a:defRPr sz="307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3pPr>
            <a:lvl4pPr algn="l">
              <a:defRPr sz="307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4pPr>
            <a:lvl5pPr algn="l">
              <a:defRPr sz="307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5pPr>
            <a:lvl6pPr algn="l">
              <a:defRPr sz="307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6pPr>
            <a:lvl7pPr algn="l">
              <a:defRPr sz="307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7pPr>
            <a:lvl8pPr algn="l">
              <a:defRPr sz="307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8pPr>
            <a:lvl9pPr algn="l">
              <a:defRPr sz="307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l">
              <a:defRPr sz="307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07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rPr>
              <a:t>学習するとき</a:t>
            </a:r>
          </a:p>
        </p:txBody>
      </p:sp>
      <p:sp>
        <p:nvSpPr>
          <p:cNvPr id="3" name="train-body">
            <a:extLst xmlns:a="http://schemas.openxmlformats.org/drawingml/2006/main">
              <a:ext uri="{FF2B5EF4-FFF2-40B4-BE49-F238E27FC236}">
                <a16:creationId xmlns:a16="http://schemas.microsoft.com/office/drawing/2014/main" id="{67179E22-343F-43FB-9083-EC0150CD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504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defPPr>
            <a:lvl1pPr algn="l">
              <a:defRPr sz="27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1pPr>
            <a:lvl2pPr algn="l">
              <a:defRPr sz="27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2pPr>
            <a:lvl3pPr algn="l">
              <a:defRPr sz="27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3pPr>
            <a:lvl4pPr algn="l">
              <a:defRPr sz="27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4pPr>
            <a:lvl5pPr algn="l">
              <a:defRPr sz="27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5pPr>
            <a:lvl6pPr algn="l">
              <a:defRPr sz="27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6pPr>
            <a:lvl7pPr algn="l">
              <a:defRPr sz="27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7pPr>
            <a:lvl8pPr algn="l">
              <a:defRPr sz="27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8pPr>
            <a:lvl9pPr algn="l">
              <a:defRPr sz="27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l">
              <a:defRPr sz="27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7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rPr>
              <a:t>本物の数字を使って、</a:t>
            </a:r>
          </a:p>
          <a:p xmlns:a="http://schemas.openxmlformats.org/drawingml/2006/main">
            <a:pPr algn="l">
              <a:defRPr sz="27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7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rPr>
              <a:t>画像の変え方を練習する。</a:t>
            </a:r>
          </a:p>
        </p:txBody>
      </p:sp>
      <p:sp>
        <p:nvSpPr>
          <p:cNvPr id="4" name="generation-head">
            <a:extLst xmlns:a="http://schemas.openxmlformats.org/drawingml/2006/main">
              <a:ext uri="{FF2B5EF4-FFF2-40B4-BE49-F238E27FC236}">
                <a16:creationId xmlns:a16="http://schemas.microsoft.com/office/drawing/2014/main" id="{7B44DC1E-B3A0-4E53-B054-99874807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71675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defPPr>
            <a:lvl1pPr algn="l">
              <a:defRPr sz="307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1pPr>
            <a:lvl2pPr algn="l">
              <a:defRPr sz="307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2pPr>
            <a:lvl3pPr algn="l">
              <a:defRPr sz="307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3pPr>
            <a:lvl4pPr algn="l">
              <a:defRPr sz="307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4pPr>
            <a:lvl5pPr algn="l">
              <a:defRPr sz="307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5pPr>
            <a:lvl6pPr algn="l">
              <a:defRPr sz="307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6pPr>
            <a:lvl7pPr algn="l">
              <a:defRPr sz="307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7pPr>
            <a:lvl8pPr algn="l">
              <a:defRPr sz="307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8pPr>
            <a:lvl9pPr algn="l">
              <a:defRPr sz="307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l">
              <a:defRPr sz="307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07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rPr>
              <a:t>生成するとき</a:t>
            </a:r>
          </a:p>
        </p:txBody>
      </p:sp>
      <p:sp>
        <p:nvSpPr>
          <p:cNvPr id="5" name="generation-body">
            <a:extLst xmlns:a="http://schemas.openxmlformats.org/drawingml/2006/main">
              <a:ext uri="{FF2B5EF4-FFF2-40B4-BE49-F238E27FC236}">
                <a16:creationId xmlns:a16="http://schemas.microsoft.com/office/drawing/2014/main" id="{080F694A-A22C-44E6-95A3-895D780F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05125"/>
            <a:ext cx="4857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defPPr>
            <a:lvl1pPr algn="l">
              <a:defRPr sz="27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1pPr>
            <a:lvl2pPr algn="l">
              <a:defRPr sz="27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2pPr>
            <a:lvl3pPr algn="l">
              <a:defRPr sz="27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3pPr>
            <a:lvl4pPr algn="l">
              <a:defRPr sz="27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4pPr>
            <a:lvl5pPr algn="l">
              <a:defRPr sz="27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5pPr>
            <a:lvl6pPr algn="l">
              <a:defRPr sz="27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6pPr>
            <a:lvl7pPr algn="l">
              <a:defRPr sz="27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7pPr>
            <a:lvl8pPr algn="l">
              <a:defRPr sz="27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8pPr>
            <a:lvl9pPr algn="l">
              <a:defRPr sz="27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l">
              <a:defRPr sz="27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7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rPr>
              <a:t>学んだ変え方を使って、</a:t>
            </a:r>
          </a:p>
          <a:p xmlns:a="http://schemas.openxmlformats.org/drawingml/2006/main">
            <a:pPr algn="l">
              <a:defRPr sz="27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7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rPr>
              <a:t>ノイズを少しずつ変える。</a:t>
            </a:r>
          </a:p>
        </p:txBody>
      </p:sp>
      <p:sp>
        <p:nvSpPr>
          <p:cNvPr id="6" name="key">
            <a:extLst xmlns:a="http://schemas.openxmlformats.org/drawingml/2006/main">
              <a:ext uri="{FF2B5EF4-FFF2-40B4-BE49-F238E27FC236}">
                <a16:creationId xmlns:a16="http://schemas.microsoft.com/office/drawing/2014/main" id="{50116C9A-6EAF-4A82-8BAF-A3DCEBBA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AF7048"/>
                </a:solidFill>
                <a:latin typeface="Noto Sans CJK JP"/>
                <a:ea typeface="Noto Sans CJK JP"/>
                <a:cs typeface="Noto Sans CJK JP"/>
              </a:defRPr>
            </a:defPPr>
            <a:lvl1pPr algn="l">
              <a:defRPr sz="2700" b="0">
                <a:solidFill>
                  <a:srgbClr val="AF7048"/>
                </a:solidFill>
                <a:latin typeface="Noto Sans CJK JP"/>
                <a:ea typeface="Noto Sans CJK JP"/>
                <a:cs typeface="Noto Sans CJK JP"/>
              </a:defRPr>
            </a:lvl1pPr>
            <a:lvl2pPr algn="l">
              <a:defRPr sz="2700" b="0">
                <a:solidFill>
                  <a:srgbClr val="AF7048"/>
                </a:solidFill>
                <a:latin typeface="Noto Sans CJK JP"/>
                <a:ea typeface="Noto Sans CJK JP"/>
                <a:cs typeface="Noto Sans CJK JP"/>
              </a:defRPr>
            </a:lvl2pPr>
            <a:lvl3pPr algn="l">
              <a:defRPr sz="2700" b="0">
                <a:solidFill>
                  <a:srgbClr val="AF7048"/>
                </a:solidFill>
                <a:latin typeface="Noto Sans CJK JP"/>
                <a:ea typeface="Noto Sans CJK JP"/>
                <a:cs typeface="Noto Sans CJK JP"/>
              </a:defRPr>
            </a:lvl3pPr>
            <a:lvl4pPr algn="l">
              <a:defRPr sz="2700" b="0">
                <a:solidFill>
                  <a:srgbClr val="AF7048"/>
                </a:solidFill>
                <a:latin typeface="Noto Sans CJK JP"/>
                <a:ea typeface="Noto Sans CJK JP"/>
                <a:cs typeface="Noto Sans CJK JP"/>
              </a:defRPr>
            </a:lvl4pPr>
            <a:lvl5pPr algn="l">
              <a:defRPr sz="2700" b="0">
                <a:solidFill>
                  <a:srgbClr val="AF7048"/>
                </a:solidFill>
                <a:latin typeface="Noto Sans CJK JP"/>
                <a:ea typeface="Noto Sans CJK JP"/>
                <a:cs typeface="Noto Sans CJK JP"/>
              </a:defRPr>
            </a:lvl5pPr>
            <a:lvl6pPr algn="l">
              <a:defRPr sz="2700" b="0">
                <a:solidFill>
                  <a:srgbClr val="AF7048"/>
                </a:solidFill>
                <a:latin typeface="Noto Sans CJK JP"/>
                <a:ea typeface="Noto Sans CJK JP"/>
                <a:cs typeface="Noto Sans CJK JP"/>
              </a:defRPr>
            </a:lvl6pPr>
            <a:lvl7pPr algn="l">
              <a:defRPr sz="2700" b="0">
                <a:solidFill>
                  <a:srgbClr val="AF7048"/>
                </a:solidFill>
                <a:latin typeface="Noto Sans CJK JP"/>
                <a:ea typeface="Noto Sans CJK JP"/>
                <a:cs typeface="Noto Sans CJK JP"/>
              </a:defRPr>
            </a:lvl7pPr>
            <a:lvl8pPr algn="l">
              <a:defRPr sz="2700" b="0">
                <a:solidFill>
                  <a:srgbClr val="AF7048"/>
                </a:solidFill>
                <a:latin typeface="Noto Sans CJK JP"/>
                <a:ea typeface="Noto Sans CJK JP"/>
                <a:cs typeface="Noto Sans CJK JP"/>
              </a:defRPr>
            </a:lvl8pPr>
            <a:lvl9pPr algn="l">
              <a:defRPr sz="2700" b="0">
                <a:solidFill>
                  <a:srgbClr val="AF7048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AF704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700" b="0">
                <a:solidFill>
                  <a:srgbClr val="AF7048"/>
                </a:solidFill>
                <a:latin typeface="Noto Sans CJK JP"/>
                <a:ea typeface="Noto Sans CJK JP"/>
                <a:cs typeface="Noto Sans CJK JP"/>
              </a:rPr>
              <a:t>学習の直線と、生成で進む経路は別です。</a:t>
            </a:r>
          </a:p>
        </p:txBody>
      </p:sp>
      <p:sp>
        <p:nvSpPr>
          <p:cNvPr id="7" name="bridge">
            <a:extLst xmlns:a="http://schemas.openxmlformats.org/drawingml/2006/main">
              <a:ext uri="{FF2B5EF4-FFF2-40B4-BE49-F238E27FC236}">
                <a16:creationId xmlns:a16="http://schemas.microsoft.com/office/drawing/2014/main" id="{5656E68A-2309-415D-BF04-BD198C9F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defPPr>
            <a:lvl1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1pPr>
            <a:lvl2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2pPr>
            <a:lvl3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3pPr>
            <a:lvl4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4pPr>
            <a:lvl5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5pPr>
            <a:lvl6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6pPr>
            <a:lvl7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7pPr>
            <a:lvl8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8pPr>
            <a:lvl9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325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rPr>
              <a:t>AIは、今の画像からどう変えるかを学習します。</a:t>
            </a:r>
          </a:p>
        </p:txBody>
      </p:sp>
    </p:spTree>
    <p:extLst>
      <p:ext uri="{BB962C8B-B14F-4D97-AF65-F5344CB8AC3E}">
        <p14:creationId xmlns:p14="http://schemas.microsoft.com/office/powerpoint/2010/main" val="4504101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18C7A6C-BEB3-4AA7-86CA-EA9E2777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defPPr>
            <a:lvl1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1pPr>
            <a:lvl2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2pPr>
            <a:lvl3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3pPr>
            <a:lvl4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4pPr>
            <a:lvl5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5pPr>
            <a:lvl6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6pPr>
            <a:lvl7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7pPr>
            <a:lvl8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8pPr>
            <a:lvl9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l">
              <a:def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82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rPr>
              <a:t>補足：予測のずれを、どう測るか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459C05D-F7A1-4BB5-8548-CABB6D5B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defPPr>
            <a:lvl1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1pPr>
            <a:lvl2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2pPr>
            <a:lvl3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3pPr>
            <a:lvl4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4pPr>
            <a:lvl5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5pPr>
            <a:lvl6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6pPr>
            <a:lvl7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7pPr>
            <a:lvl8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8pPr>
            <a:lvl9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rPr>
              <a:t>本編の「AIの予測と正解を比べる」を式にしたもの</a:t>
            </a:r>
          </a:p>
        </p:txBody>
      </p:sp>
      <p:sp>
        <p:nvSpPr>
          <p:cNvPr id="3" name="formula">
            <a:extLst xmlns:a="http://schemas.openxmlformats.org/drawingml/2006/main">
              <a:ext uri="{FF2B5EF4-FFF2-40B4-BE49-F238E27FC236}">
                <a16:creationId xmlns:a16="http://schemas.microsoft.com/office/drawing/2014/main" id="{DE645A5B-5A42-416F-9592-A70E7CD7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defPPr>
            <a:lvl1pPr algn="l">
              <a:defRPr sz="39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1pPr>
            <a:lvl2pPr algn="l">
              <a:defRPr sz="39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2pPr>
            <a:lvl3pPr algn="l">
              <a:defRPr sz="39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3pPr>
            <a:lvl4pPr algn="l">
              <a:defRPr sz="39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4pPr>
            <a:lvl5pPr algn="l">
              <a:defRPr sz="39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5pPr>
            <a:lvl6pPr algn="l">
              <a:defRPr sz="39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6pPr>
            <a:lvl7pPr algn="l">
              <a:defRPr sz="39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7pPr>
            <a:lvl8pPr algn="l">
              <a:defRPr sz="39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8pPr>
            <a:lvl9pPr algn="l">
              <a:defRPr sz="39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l">
              <a:defRPr sz="39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900" b="0">
                <a:solidFill>
                  <a:srgbClr val="387B81"/>
                </a:solidFill>
                <a:latin typeface="Noto Sans CJK JP"/>
                <a:ea typeface="Noto Sans CJK JP"/>
                <a:cs typeface="Noto Sans CJK JP"/>
              </a:rPr>
              <a:t>L = mean[(vθ(xₜ, t) − u)²]</a:t>
            </a:r>
          </a:p>
        </p:txBody>
      </p:sp>
      <p:sp>
        <p:nvSpPr>
          <p:cNvPr id="4" name="explain">
            <a:extLst xmlns:a="http://schemas.openxmlformats.org/drawingml/2006/main">
              <a:ext uri="{FF2B5EF4-FFF2-40B4-BE49-F238E27FC236}">
                <a16:creationId xmlns:a16="http://schemas.microsoft.com/office/drawing/2014/main" id="{C834E84B-CB32-44BF-8E7C-1F07AF63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defPPr>
            <a:lvl1pPr algn="l">
              <a:defRPr sz="24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1pPr>
            <a:lvl2pPr algn="l">
              <a:defRPr sz="24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2pPr>
            <a:lvl3pPr algn="l">
              <a:defRPr sz="24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3pPr>
            <a:lvl4pPr algn="l">
              <a:defRPr sz="24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4pPr>
            <a:lvl5pPr algn="l">
              <a:defRPr sz="24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5pPr>
            <a:lvl6pPr algn="l">
              <a:defRPr sz="24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6pPr>
            <a:lvl7pPr algn="l">
              <a:defRPr sz="24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7pPr>
            <a:lvl8pPr algn="l">
              <a:defRPr sz="24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8pPr>
            <a:lvl9pPr algn="l">
              <a:defRPr sz="24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4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rPr>
              <a:t>予測と正解の差を2乗し、その平均を小さくする。</a:t>
            </a:r>
          </a:p>
        </p:txBody>
      </p:sp>
      <p:sp>
        <p:nvSpPr>
          <p:cNvPr id="5" name="labels">
            <a:extLst xmlns:a="http://schemas.openxmlformats.org/drawingml/2006/main">
              <a:ext uri="{FF2B5EF4-FFF2-40B4-BE49-F238E27FC236}">
                <a16:creationId xmlns:a16="http://schemas.microsoft.com/office/drawing/2014/main" id="{BBC0AD8B-9559-4E36-80CA-16970077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defPPr>
            <a:lvl1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1pPr>
            <a:lvl2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2pPr>
            <a:lvl3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3pPr>
            <a:lvl4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4pPr>
            <a:lvl5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5pPr>
            <a:lvl6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6pPr>
            <a:lvl7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7pPr>
            <a:lvl8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8pPr>
            <a:lvl9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400" b="0">
                <a:solidFill>
                  <a:srgbClr val="607778"/>
                </a:solidFill>
                <a:latin typeface="Noto Sans CJK JP"/>
                <a:ea typeface="Noto Sans CJK JP"/>
                <a:cs typeface="Noto Sans CJK JP"/>
              </a:rPr>
              <a:t>vθ：AIの予測　 u：正解　 θ：AIの重み</a:t>
            </a:r>
          </a:p>
        </p:txBody>
      </p:sp>
      <p:sp>
        <p:nvSpPr>
          <p:cNvPr id="6" name="code">
            <a:extLst xmlns:a="http://schemas.openxmlformats.org/drawingml/2006/main">
              <a:ext uri="{FF2B5EF4-FFF2-40B4-BE49-F238E27FC236}">
                <a16:creationId xmlns:a16="http://schemas.microsoft.com/office/drawing/2014/main" id="{5A829C5F-8FA7-4C78-864B-C9B39C31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defPPr>
            <a:lvl1pPr algn="l">
              <a:defRPr sz="24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1pPr>
            <a:lvl2pPr algn="l">
              <a:defRPr sz="24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2pPr>
            <a:lvl3pPr algn="l">
              <a:defRPr sz="24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3pPr>
            <a:lvl4pPr algn="l">
              <a:defRPr sz="24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4pPr>
            <a:lvl5pPr algn="l">
              <a:defRPr sz="24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5pPr>
            <a:lvl6pPr algn="l">
              <a:defRPr sz="24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6pPr>
            <a:lvl7pPr algn="l">
              <a:defRPr sz="24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7pPr>
            <a:lvl8pPr algn="l">
              <a:defRPr sz="24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8pPr>
            <a:lvl9pPr algn="l">
              <a:defRPr sz="24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475" b="0">
                <a:solidFill>
                  <a:srgbClr val="30454B"/>
                </a:solidFill>
                <a:latin typeface="Noto Sans CJK JP"/>
                <a:ea typeface="Noto Sans CJK JP"/>
                <a:cs typeface="Noto Sans CJK JP"/>
              </a:rPr>
              <a:t>loss = F.mse_loss(predicted, target)</a:t>
            </a:r>
          </a:p>
        </p:txBody>
      </p:sp>
    </p:spTree>
    <p:extLst>
      <p:ext uri="{BB962C8B-B14F-4D97-AF65-F5344CB8AC3E}">
        <p14:creationId xmlns:p14="http://schemas.microsoft.com/office/powerpoint/2010/main" val="18136495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2026-10-27T08:58:05.1030000Z</dcterms:created>
  <dcterms:modified xsi:type="dcterms:W3CDTF">2026-10-27T08:58:05.1030000Z</dcterms:modified>
</coreProperties>
</file>